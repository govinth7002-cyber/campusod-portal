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8"/>
    <p:sldId id="270" r:id="rId10"/>
    <p:sldId id="271" r:id="rId11"/>
    <p:sldId id="272" r:id="rId12"/>
    <p:sldId id="273" r:id="rId13"/>
    <p:sldId id="274" r:id="rId7"/>
    <p:sldId id="275" r:id="rId6"/>
    <p:sldId id="276" r:id="rId5"/>
    <p:sldId id="277" r:id="rId4"/>
    <p:sldId id="278" r:id="rId3"/>
    <p:sldId id="279" r:id="rId19"/>
    <p:sldId id="280" r:id="rId20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9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938ECF-621D-4215-9825-54B68EFDAB3A}" type="doc">
      <dgm:prSet loTypeId="urn:microsoft.com/office/officeart/2005/8/layout/vList2" loCatId="list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n-US"/>
        </a:p>
      </dgm:t>
    </dgm:pt>
    <dgm:pt modelId="{C3AB4586-7F34-49E7-8773-89548778B7E1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1 – PROJECT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1049F7-14A4-43D0-9335-4570AB27C873}" type="parTrans" cxnId="{9706DB8E-7A90-4BE1-8849-AB8E584521B1}">
      <dgm:prSet/>
      <dgm:spPr/>
      <dgm:t>
        <a:bodyPr/>
        <a:lstStyle/>
        <a:p>
          <a:endParaRPr lang="en-US"/>
        </a:p>
      </dgm:t>
    </dgm:pt>
    <dgm:pt modelId="{198B1FB9-F2A6-4E81-AAAA-C76DCF0A9FE9}" type="sibTrans" cxnId="{9706DB8E-7A90-4BE1-8849-AB8E584521B1}">
      <dgm:prSet/>
      <dgm:spPr/>
      <dgm:t>
        <a:bodyPr/>
        <a:lstStyle/>
        <a:p>
          <a:endParaRPr lang="en-US"/>
        </a:p>
      </dgm:t>
    </dgm:pt>
    <dgm:pt modelId="{1CEDA05B-2367-4786-983B-8035236B066B}">
      <dgm:prSet/>
      <dgm:spPr/>
      <dgm:t>
        <a:bodyPr/>
        <a:lstStyle/>
        <a:p>
          <a:r>
            <a:rPr lang="en-US" b="0" dirty="0"/>
            <a:t>Trainer Name: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MS. NAGAMANI SEGALLA</a:t>
          </a:r>
          <a:endParaRPr lang="en-US" dirty="0"/>
        </a:p>
      </dgm:t>
    </dgm:pt>
    <dgm:pt modelId="{E041674E-12BA-4150-A8C2-856A81B70869}" type="parTrans" cxnId="{6C24AA78-9B18-42A1-9F6F-30E3786C8A48}">
      <dgm:prSet/>
      <dgm:spPr/>
      <dgm:t>
        <a:bodyPr/>
        <a:lstStyle/>
        <a:p>
          <a:endParaRPr lang="en-US"/>
        </a:p>
      </dgm:t>
    </dgm:pt>
    <dgm:pt modelId="{359849D9-BA86-4707-AD12-CE284301F6B9}" type="sibTrans" cxnId="{6C24AA78-9B18-42A1-9F6F-30E3786C8A48}">
      <dgm:prSet/>
      <dgm:spPr/>
      <dgm:t>
        <a:bodyPr/>
        <a:lstStyle/>
        <a:p>
          <a:endParaRPr lang="en-US"/>
        </a:p>
      </dgm:t>
    </dgm:pt>
    <dgm:pt modelId="{F0D7D244-DC14-4758-B6DB-F712852926B5}">
      <dgm:prSet/>
      <dgm:spPr/>
      <dgm:t>
        <a:bodyPr/>
        <a:lstStyle/>
        <a:p>
          <a:r>
            <a:rPr lang="en-US" b="0" dirty="0"/>
            <a:t>Student Name: Govinth S</a:t>
          </a:r>
          <a:endParaRPr lang="en-US" dirty="0"/>
        </a:p>
      </dgm:t>
    </dgm:pt>
    <dgm:pt modelId="{60646373-B726-4B68-BAAE-F965F81029FA}" type="parTrans" cxnId="{79D19F32-2BD9-4F5A-BCAD-7B908B31A650}">
      <dgm:prSet/>
      <dgm:spPr/>
      <dgm:t>
        <a:bodyPr/>
        <a:lstStyle/>
        <a:p>
          <a:endParaRPr lang="en-US"/>
        </a:p>
      </dgm:t>
    </dgm:pt>
    <dgm:pt modelId="{7F6DED17-408D-4A4C-BAEE-79692BC38071}" type="sibTrans" cxnId="{79D19F32-2BD9-4F5A-BCAD-7B908B31A650}">
      <dgm:prSet/>
      <dgm:spPr/>
      <dgm:t>
        <a:bodyPr/>
        <a:lstStyle/>
        <a:p>
          <a:endParaRPr lang="en-US"/>
        </a:p>
      </dgm:t>
    </dgm:pt>
    <dgm:pt modelId="{B895B64C-D4B5-40D2-B3BE-29246368E16F}">
      <dgm:prSet/>
      <dgm:spPr/>
      <dgm:t>
        <a:bodyPr/>
        <a:lstStyle/>
        <a:p>
          <a:r>
            <a:rPr lang="en-US" b="0"/>
            <a:t>Department: Computer Science and Engineering</a:t>
          </a:r>
          <a:endParaRPr lang="en-US"/>
        </a:p>
      </dgm:t>
    </dgm:pt>
    <dgm:pt modelId="{1970D731-D56D-4AB1-9171-EAB4F923513B}" type="parTrans" cxnId="{9407590E-A2AD-4973-8DDD-9B432E3A7B6D}">
      <dgm:prSet/>
      <dgm:spPr/>
      <dgm:t>
        <a:bodyPr/>
        <a:lstStyle/>
        <a:p>
          <a:endParaRPr lang="en-US"/>
        </a:p>
      </dgm:t>
    </dgm:pt>
    <dgm:pt modelId="{AB89DFCA-49E9-4A77-8147-3A399CA54B71}" type="sibTrans" cxnId="{9407590E-A2AD-4973-8DDD-9B432E3A7B6D}">
      <dgm:prSet/>
      <dgm:spPr/>
      <dgm:t>
        <a:bodyPr/>
        <a:lstStyle/>
        <a:p>
          <a:endParaRPr lang="en-US"/>
        </a:p>
      </dgm:t>
    </dgm:pt>
    <dgm:pt modelId="{BD73991F-73F6-44FA-893B-A837C005BACF}">
      <dgm:prSet/>
      <dgm:spPr/>
      <dgm:t>
        <a:bodyPr/>
        <a:lstStyle/>
        <a:p>
          <a:r>
            <a:rPr lang="en-US" b="0"/>
            <a:t>Topic: Automated Student OD and Leave Approval with Attendance Integration</a:t>
          </a:r>
          <a:endParaRPr lang="en-US"/>
        </a:p>
      </dgm:t>
    </dgm:pt>
    <dgm:pt modelId="{5792FC5B-E737-4FEF-9559-D10B6A9DB400}" type="parTrans" cxnId="{2691C0D8-2972-4FFF-A836-9CF0103A9583}">
      <dgm:prSet/>
      <dgm:spPr/>
      <dgm:t>
        <a:bodyPr/>
        <a:lstStyle/>
        <a:p>
          <a:endParaRPr lang="en-US"/>
        </a:p>
      </dgm:t>
    </dgm:pt>
    <dgm:pt modelId="{BB30DEE4-039B-45B1-8608-D1227B88FBAA}" type="sibTrans" cxnId="{2691C0D8-2972-4FFF-A836-9CF0103A9583}">
      <dgm:prSet/>
      <dgm:spPr/>
      <dgm:t>
        <a:bodyPr/>
        <a:lstStyle/>
        <a:p>
          <a:endParaRPr lang="en-US"/>
        </a:p>
      </dgm:t>
    </dgm:pt>
    <dgm:pt modelId="{BF7187BD-92CF-4374-843A-7D477E390760}" type="pres">
      <dgm:prSet presAssocID="{0C938ECF-621D-4215-9825-54B68EFDAB3A}" presName="linear" presStyleCnt="0">
        <dgm:presLayoutVars>
          <dgm:animLvl val="lvl"/>
          <dgm:resizeHandles val="exact"/>
        </dgm:presLayoutVars>
      </dgm:prSet>
      <dgm:spPr/>
    </dgm:pt>
    <dgm:pt modelId="{8AC368C0-72F9-47F5-B27C-2B865E30FA78}" type="pres">
      <dgm:prSet presAssocID="{C3AB4586-7F34-49E7-8773-89548778B7E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516876-196B-49A0-A3E9-F6DFBD8B4417}" type="pres">
      <dgm:prSet presAssocID="{198B1FB9-F2A6-4E81-AAAA-C76DCF0A9FE9}" presName="spacer" presStyleCnt="0"/>
      <dgm:spPr/>
    </dgm:pt>
    <dgm:pt modelId="{C984C947-189E-41C2-BF85-962E9807345E}" type="pres">
      <dgm:prSet presAssocID="{1CEDA05B-2367-4786-983B-8035236B066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D990D11-5331-4EC1-8010-A7B3F4B0B901}" type="pres">
      <dgm:prSet presAssocID="{359849D9-BA86-4707-AD12-CE284301F6B9}" presName="spacer" presStyleCnt="0"/>
      <dgm:spPr/>
    </dgm:pt>
    <dgm:pt modelId="{8831E886-3543-4CF4-9E3F-CC839E746936}" type="pres">
      <dgm:prSet presAssocID="{F0D7D244-DC14-4758-B6DB-F712852926B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84F6188-43B2-453C-A7B8-7DA33C0EA65E}" type="pres">
      <dgm:prSet presAssocID="{7F6DED17-408D-4A4C-BAEE-79692BC38071}" presName="spacer" presStyleCnt="0"/>
      <dgm:spPr/>
    </dgm:pt>
    <dgm:pt modelId="{05CF536A-35AB-40E6-AEC9-105CA9DF721D}" type="pres">
      <dgm:prSet presAssocID="{B895B64C-D4B5-40D2-B3BE-29246368E16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853CBA-4CBE-4AA8-AE1C-EE66FE087C30}" type="pres">
      <dgm:prSet presAssocID="{AB89DFCA-49E9-4A77-8147-3A399CA54B71}" presName="spacer" presStyleCnt="0"/>
      <dgm:spPr/>
    </dgm:pt>
    <dgm:pt modelId="{91D14057-486A-4F07-ABC4-25BE2189B176}" type="pres">
      <dgm:prSet presAssocID="{BD73991F-73F6-44FA-893B-A837C005BAC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B8F503-92D9-4DDE-A2D4-672C0ED84510}" type="presOf" srcId="{BD73991F-73F6-44FA-893B-A837C005BACF}" destId="{91D14057-486A-4F07-ABC4-25BE2189B176}" srcOrd="0" destOrd="0" presId="urn:microsoft.com/office/officeart/2005/8/layout/vList2"/>
    <dgm:cxn modelId="{9407590E-A2AD-4973-8DDD-9B432E3A7B6D}" srcId="{0C938ECF-621D-4215-9825-54B68EFDAB3A}" destId="{B895B64C-D4B5-40D2-B3BE-29246368E16F}" srcOrd="3" destOrd="0" parTransId="{1970D731-D56D-4AB1-9171-EAB4F923513B}" sibTransId="{AB89DFCA-49E9-4A77-8147-3A399CA54B71}"/>
    <dgm:cxn modelId="{79D19F32-2BD9-4F5A-BCAD-7B908B31A650}" srcId="{0C938ECF-621D-4215-9825-54B68EFDAB3A}" destId="{F0D7D244-DC14-4758-B6DB-F712852926B5}" srcOrd="2" destOrd="0" parTransId="{60646373-B726-4B68-BAAE-F965F81029FA}" sibTransId="{7F6DED17-408D-4A4C-BAEE-79692BC38071}"/>
    <dgm:cxn modelId="{0ED7E84F-81A7-4958-A3A2-DE09FF7BF142}" type="presOf" srcId="{1CEDA05B-2367-4786-983B-8035236B066B}" destId="{C984C947-189E-41C2-BF85-962E9807345E}" srcOrd="0" destOrd="0" presId="urn:microsoft.com/office/officeart/2005/8/layout/vList2"/>
    <dgm:cxn modelId="{6585B851-50F8-4C4F-9CD5-F3C8F3E4DC7D}" type="presOf" srcId="{C3AB4586-7F34-49E7-8773-89548778B7E1}" destId="{8AC368C0-72F9-47F5-B27C-2B865E30FA78}" srcOrd="0" destOrd="0" presId="urn:microsoft.com/office/officeart/2005/8/layout/vList2"/>
    <dgm:cxn modelId="{01953D76-DECB-4248-BF6F-78EFE82ADA92}" type="presOf" srcId="{0C938ECF-621D-4215-9825-54B68EFDAB3A}" destId="{BF7187BD-92CF-4374-843A-7D477E390760}" srcOrd="0" destOrd="0" presId="urn:microsoft.com/office/officeart/2005/8/layout/vList2"/>
    <dgm:cxn modelId="{6C24AA78-9B18-42A1-9F6F-30E3786C8A48}" srcId="{0C938ECF-621D-4215-9825-54B68EFDAB3A}" destId="{1CEDA05B-2367-4786-983B-8035236B066B}" srcOrd="1" destOrd="0" parTransId="{E041674E-12BA-4150-A8C2-856A81B70869}" sibTransId="{359849D9-BA86-4707-AD12-CE284301F6B9}"/>
    <dgm:cxn modelId="{9706DB8E-7A90-4BE1-8849-AB8E584521B1}" srcId="{0C938ECF-621D-4215-9825-54B68EFDAB3A}" destId="{C3AB4586-7F34-49E7-8773-89548778B7E1}" srcOrd="0" destOrd="0" parTransId="{1F1049F7-14A4-43D0-9335-4570AB27C873}" sibTransId="{198B1FB9-F2A6-4E81-AAAA-C76DCF0A9FE9}"/>
    <dgm:cxn modelId="{DFE35CD6-C756-4737-B000-E36A71D804C0}" type="presOf" srcId="{B895B64C-D4B5-40D2-B3BE-29246368E16F}" destId="{05CF536A-35AB-40E6-AEC9-105CA9DF721D}" srcOrd="0" destOrd="0" presId="urn:microsoft.com/office/officeart/2005/8/layout/vList2"/>
    <dgm:cxn modelId="{2691C0D8-2972-4FFF-A836-9CF0103A9583}" srcId="{0C938ECF-621D-4215-9825-54B68EFDAB3A}" destId="{BD73991F-73F6-44FA-893B-A837C005BACF}" srcOrd="4" destOrd="0" parTransId="{5792FC5B-E737-4FEF-9559-D10B6A9DB400}" sibTransId="{BB30DEE4-039B-45B1-8608-D1227B88FBAA}"/>
    <dgm:cxn modelId="{5C45FCDE-0149-4853-AE60-14D499608E27}" type="presOf" srcId="{F0D7D244-DC14-4758-B6DB-F712852926B5}" destId="{8831E886-3543-4CF4-9E3F-CC839E746936}" srcOrd="0" destOrd="0" presId="urn:microsoft.com/office/officeart/2005/8/layout/vList2"/>
    <dgm:cxn modelId="{AD42B1F2-A99C-43EE-B7FC-3B9DB4D17412}" type="presParOf" srcId="{BF7187BD-92CF-4374-843A-7D477E390760}" destId="{8AC368C0-72F9-47F5-B27C-2B865E30FA78}" srcOrd="0" destOrd="0" presId="urn:microsoft.com/office/officeart/2005/8/layout/vList2"/>
    <dgm:cxn modelId="{406E5E82-4EC3-4B2B-A8F2-0FAACDCA4E3E}" type="presParOf" srcId="{BF7187BD-92CF-4374-843A-7D477E390760}" destId="{C0516876-196B-49A0-A3E9-F6DFBD8B4417}" srcOrd="1" destOrd="0" presId="urn:microsoft.com/office/officeart/2005/8/layout/vList2"/>
    <dgm:cxn modelId="{E82CED97-8CBF-4010-8110-B65CF3656FBC}" type="presParOf" srcId="{BF7187BD-92CF-4374-843A-7D477E390760}" destId="{C984C947-189E-41C2-BF85-962E9807345E}" srcOrd="2" destOrd="0" presId="urn:microsoft.com/office/officeart/2005/8/layout/vList2"/>
    <dgm:cxn modelId="{D511D84A-EEA1-4925-86E0-A9CF1D44D1CE}" type="presParOf" srcId="{BF7187BD-92CF-4374-843A-7D477E390760}" destId="{0D990D11-5331-4EC1-8010-A7B3F4B0B901}" srcOrd="3" destOrd="0" presId="urn:microsoft.com/office/officeart/2005/8/layout/vList2"/>
    <dgm:cxn modelId="{C8B33BBF-ADBD-4E95-BD87-FF46889A787F}" type="presParOf" srcId="{BF7187BD-92CF-4374-843A-7D477E390760}" destId="{8831E886-3543-4CF4-9E3F-CC839E746936}" srcOrd="4" destOrd="0" presId="urn:microsoft.com/office/officeart/2005/8/layout/vList2"/>
    <dgm:cxn modelId="{9199E46B-DAD0-4CB1-885D-87A5BA15F1C0}" type="presParOf" srcId="{BF7187BD-92CF-4374-843A-7D477E390760}" destId="{484F6188-43B2-453C-A7B8-7DA33C0EA65E}" srcOrd="5" destOrd="0" presId="urn:microsoft.com/office/officeart/2005/8/layout/vList2"/>
    <dgm:cxn modelId="{1326C5E6-8F1D-47E3-9D4A-9B65F5B073BC}" type="presParOf" srcId="{BF7187BD-92CF-4374-843A-7D477E390760}" destId="{05CF536A-35AB-40E6-AEC9-105CA9DF721D}" srcOrd="6" destOrd="0" presId="urn:microsoft.com/office/officeart/2005/8/layout/vList2"/>
    <dgm:cxn modelId="{55B75E0B-4C79-4FE9-8FB9-B331611EF9F2}" type="presParOf" srcId="{BF7187BD-92CF-4374-843A-7D477E390760}" destId="{ED853CBA-4CBE-4AA8-AE1C-EE66FE087C30}" srcOrd="7" destOrd="0" presId="urn:microsoft.com/office/officeart/2005/8/layout/vList2"/>
    <dgm:cxn modelId="{8D50BE5B-BA1D-45A5-9A6E-C0E67AAC0B7D}" type="presParOf" srcId="{BF7187BD-92CF-4374-843A-7D477E390760}" destId="{91D14057-486A-4F07-ABC4-25BE2189B17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368C0-72F9-47F5-B27C-2B865E30FA78}">
      <dsp:nvSpPr>
        <dsp:cNvPr id="0" name=""/>
        <dsp:cNvSpPr/>
      </dsp:nvSpPr>
      <dsp:spPr>
        <a:xfrm>
          <a:off x="0" y="314189"/>
          <a:ext cx="8503920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 – PROJECT REVIEW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848" y="333037"/>
        <a:ext cx="8466224" cy="348404"/>
      </dsp:txXfrm>
    </dsp:sp>
    <dsp:sp modelId="{C984C947-189E-41C2-BF85-962E9807345E}">
      <dsp:nvSpPr>
        <dsp:cNvPr id="0" name=""/>
        <dsp:cNvSpPr/>
      </dsp:nvSpPr>
      <dsp:spPr>
        <a:xfrm>
          <a:off x="0" y="746369"/>
          <a:ext cx="8503920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Trainer Name: 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MS. NAGAMANI SEGALLA</a:t>
          </a:r>
          <a:endParaRPr lang="en-US" sz="1600" kern="1200" dirty="0"/>
        </a:p>
      </dsp:txBody>
      <dsp:txXfrm>
        <a:off x="18848" y="765217"/>
        <a:ext cx="8466224" cy="348404"/>
      </dsp:txXfrm>
    </dsp:sp>
    <dsp:sp modelId="{8831E886-3543-4CF4-9E3F-CC839E746936}">
      <dsp:nvSpPr>
        <dsp:cNvPr id="0" name=""/>
        <dsp:cNvSpPr/>
      </dsp:nvSpPr>
      <dsp:spPr>
        <a:xfrm>
          <a:off x="0" y="1178549"/>
          <a:ext cx="8503920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Student Name: Govinth S</a:t>
          </a:r>
          <a:endParaRPr lang="en-US" sz="1600" kern="1200" dirty="0"/>
        </a:p>
      </dsp:txBody>
      <dsp:txXfrm>
        <a:off x="18848" y="1197397"/>
        <a:ext cx="8466224" cy="348404"/>
      </dsp:txXfrm>
    </dsp:sp>
    <dsp:sp modelId="{05CF536A-35AB-40E6-AEC9-105CA9DF721D}">
      <dsp:nvSpPr>
        <dsp:cNvPr id="0" name=""/>
        <dsp:cNvSpPr/>
      </dsp:nvSpPr>
      <dsp:spPr>
        <a:xfrm>
          <a:off x="0" y="1610730"/>
          <a:ext cx="8503920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Department: Computer Science and Engineering</a:t>
          </a:r>
          <a:endParaRPr lang="en-US" sz="1600" kern="1200"/>
        </a:p>
      </dsp:txBody>
      <dsp:txXfrm>
        <a:off x="18848" y="1629578"/>
        <a:ext cx="8466224" cy="348404"/>
      </dsp:txXfrm>
    </dsp:sp>
    <dsp:sp modelId="{91D14057-486A-4F07-ABC4-25BE2189B176}">
      <dsp:nvSpPr>
        <dsp:cNvPr id="0" name=""/>
        <dsp:cNvSpPr/>
      </dsp:nvSpPr>
      <dsp:spPr>
        <a:xfrm>
          <a:off x="0" y="2042910"/>
          <a:ext cx="8503920" cy="386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Topic: Automated Student OD and Leave Approval with Attendance Integration</a:t>
          </a:r>
          <a:endParaRPr lang="en-US" sz="1600" kern="1200"/>
        </a:p>
      </dsp:txBody>
      <dsp:txXfrm>
        <a:off x="18848" y="2061758"/>
        <a:ext cx="8466224" cy="348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Review-1 topics, in the order they will be presented. A short project overview comes first for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only: the problem with manual OD/leave handling and what the proposed web platform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by role. FR numbers are used again in the use case and module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attributes the system is designed to meet. Response-time figures are design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Three-tier web architecture: browser clients, a Node/Express REST layer with five services, and MongoDB. Notification service calls an email/SMS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actors. Everyone logs in first. Student and Parent on the left; Faculty, Warden and Admin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entities. PK = primary key, FK = foreign key. In MongoDB each entity is a collection with ObjectId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modules. Each maps to the functional requirement numbers on the earlier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MERN-style stack without React: plain HTML/CSS/JS front end, Node and Express back end,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Wireframes for the student-facing screens. Same layout language is reused for the other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Wireframes for the parent, faculty and warden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Review-1 design is complete; the remaining items feed the Review-2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4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4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2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1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8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15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9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2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18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581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18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48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30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45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591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61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4547" y="640080"/>
            <a:ext cx="749506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Student OD and Leave Approval</a:t>
            </a:r>
          </a:p>
          <a:p>
            <a:pPr algn="ctr">
              <a:defRPr sz="3000">
                <a:latin typeface="Aptos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Attendance &amp; Hostel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>
                <a:latin typeface="Aptos"/>
              </a:rPr>
              <a:t>1</a:t>
            </a:r>
          </a:p>
        </p:txBody>
      </p:sp>
      <p:pic>
        <p:nvPicPr>
          <p:cNvPr id="5" name="Picture 4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201168"/>
            <a:ext cx="1645920" cy="987552"/>
          </a:xfrm>
          <a:prstGeom prst="rect">
            <a:avLst/>
          </a:prstGeom>
        </p:spPr>
      </p:pic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60D5C62E-CD9F-B48F-0AA3-FF86C2ED1C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556355"/>
              </p:ext>
            </p:extLst>
          </p:nvPr>
        </p:nvGraphicFramePr>
        <p:xfrm>
          <a:off x="1828800" y="2286000"/>
          <a:ext cx="850392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Review 1 – Agenda</a:t>
            </a:r>
          </a:p>
        </p:txBody>
      </p:sp>
      <p:sp>
        <p:nvSpPr>
          <p:cNvPr id="3" name="Agenda card 1"/>
          <p:cNvSpPr/>
          <p:nvPr/>
        </p:nvSpPr>
        <p:spPr>
          <a:xfrm>
            <a:off x="640080" y="160020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enda no 1"/>
          <p:cNvSpPr txBox="1"/>
          <p:nvPr/>
        </p:nvSpPr>
        <p:spPr>
          <a:xfrm>
            <a:off x="777240" y="170992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01</a:t>
            </a:r>
          </a:p>
        </p:txBody>
      </p:sp>
      <p:sp>
        <p:nvSpPr>
          <p:cNvPr id="5" name="Agenda topic 1"/>
          <p:cNvSpPr txBox="1"/>
          <p:nvPr/>
        </p:nvSpPr>
        <p:spPr>
          <a:xfrm>
            <a:off x="777240" y="242316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Functional &amp; Non-Functional Requirements</a:t>
            </a:r>
          </a:p>
        </p:txBody>
      </p:sp>
      <p:sp>
        <p:nvSpPr>
          <p:cNvPr id="6" name="Agenda card 2"/>
          <p:cNvSpPr/>
          <p:nvPr/>
        </p:nvSpPr>
        <p:spPr>
          <a:xfrm>
            <a:off x="3383280" y="160020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da no 2"/>
          <p:cNvSpPr txBox="1"/>
          <p:nvPr/>
        </p:nvSpPr>
        <p:spPr>
          <a:xfrm>
            <a:off x="3520440" y="170992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02</a:t>
            </a:r>
          </a:p>
        </p:txBody>
      </p:sp>
      <p:sp>
        <p:nvSpPr>
          <p:cNvPr id="8" name="Agenda topic 2"/>
          <p:cNvSpPr txBox="1"/>
          <p:nvPr/>
        </p:nvSpPr>
        <p:spPr>
          <a:xfrm>
            <a:off x="3520440" y="242316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9" name="Agenda card 3"/>
          <p:cNvSpPr/>
          <p:nvPr/>
        </p:nvSpPr>
        <p:spPr>
          <a:xfrm>
            <a:off x="6126480" y="160020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genda no 3"/>
          <p:cNvSpPr txBox="1"/>
          <p:nvPr/>
        </p:nvSpPr>
        <p:spPr>
          <a:xfrm>
            <a:off x="6263640" y="170992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03</a:t>
            </a:r>
          </a:p>
        </p:txBody>
      </p:sp>
      <p:sp>
        <p:nvSpPr>
          <p:cNvPr id="11" name="Agenda topic 3"/>
          <p:cNvSpPr txBox="1"/>
          <p:nvPr/>
        </p:nvSpPr>
        <p:spPr>
          <a:xfrm>
            <a:off x="6263640" y="242316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Use Case Diagram</a:t>
            </a:r>
          </a:p>
        </p:txBody>
      </p:sp>
      <p:sp>
        <p:nvSpPr>
          <p:cNvPr id="12" name="Agenda card 4"/>
          <p:cNvSpPr/>
          <p:nvPr/>
        </p:nvSpPr>
        <p:spPr>
          <a:xfrm>
            <a:off x="8869680" y="160020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genda no 4"/>
          <p:cNvSpPr txBox="1"/>
          <p:nvPr/>
        </p:nvSpPr>
        <p:spPr>
          <a:xfrm>
            <a:off x="9006840" y="170992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04</a:t>
            </a:r>
          </a:p>
        </p:txBody>
      </p:sp>
      <p:sp>
        <p:nvSpPr>
          <p:cNvPr id="14" name="Agenda topic 4"/>
          <p:cNvSpPr txBox="1"/>
          <p:nvPr/>
        </p:nvSpPr>
        <p:spPr>
          <a:xfrm>
            <a:off x="9006840" y="242316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ER Diagram</a:t>
            </a:r>
          </a:p>
        </p:txBody>
      </p:sp>
      <p:sp>
        <p:nvSpPr>
          <p:cNvPr id="15" name="Agenda card 5"/>
          <p:cNvSpPr/>
          <p:nvPr/>
        </p:nvSpPr>
        <p:spPr>
          <a:xfrm>
            <a:off x="640080" y="379476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da no 5"/>
          <p:cNvSpPr txBox="1"/>
          <p:nvPr/>
        </p:nvSpPr>
        <p:spPr>
          <a:xfrm>
            <a:off x="777240" y="390448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05</a:t>
            </a:r>
          </a:p>
        </p:txBody>
      </p:sp>
      <p:sp>
        <p:nvSpPr>
          <p:cNvPr id="17" name="Agenda topic 5"/>
          <p:cNvSpPr txBox="1"/>
          <p:nvPr/>
        </p:nvSpPr>
        <p:spPr>
          <a:xfrm>
            <a:off x="777240" y="461772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Module Description</a:t>
            </a:r>
          </a:p>
        </p:txBody>
      </p:sp>
      <p:sp>
        <p:nvSpPr>
          <p:cNvPr id="18" name="Agenda card 6"/>
          <p:cNvSpPr/>
          <p:nvPr/>
        </p:nvSpPr>
        <p:spPr>
          <a:xfrm>
            <a:off x="3383280" y="379476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da no 6"/>
          <p:cNvSpPr txBox="1"/>
          <p:nvPr/>
        </p:nvSpPr>
        <p:spPr>
          <a:xfrm>
            <a:off x="3520440" y="390448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06</a:t>
            </a:r>
          </a:p>
        </p:txBody>
      </p:sp>
      <p:sp>
        <p:nvSpPr>
          <p:cNvPr id="20" name="Agenda topic 6"/>
          <p:cNvSpPr txBox="1"/>
          <p:nvPr/>
        </p:nvSpPr>
        <p:spPr>
          <a:xfrm>
            <a:off x="3520440" y="461772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Technology Stack</a:t>
            </a:r>
          </a:p>
        </p:txBody>
      </p:sp>
      <p:sp>
        <p:nvSpPr>
          <p:cNvPr id="21" name="Agenda card 7"/>
          <p:cNvSpPr/>
          <p:nvPr/>
        </p:nvSpPr>
        <p:spPr>
          <a:xfrm>
            <a:off x="6126480" y="3794760"/>
            <a:ext cx="2560320" cy="1920240"/>
          </a:xfrm>
          <a:prstGeom prst="roundRect">
            <a:avLst>
              <a:gd name="adj" fmla="val 952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da no 7"/>
          <p:cNvSpPr txBox="1"/>
          <p:nvPr/>
        </p:nvSpPr>
        <p:spPr>
          <a:xfrm>
            <a:off x="6263640" y="3904488"/>
            <a:ext cx="109728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 i="0">
                <a:solidFill>
                  <a:srgbClr val="E6B729"/>
                </a:solidFill>
                <a:latin typeface="Times New Roman"/>
              </a:rPr>
              <a:t>07</a:t>
            </a:r>
          </a:p>
        </p:txBody>
      </p:sp>
      <p:sp>
        <p:nvSpPr>
          <p:cNvPr id="23" name="Agenda topic 7"/>
          <p:cNvSpPr txBox="1"/>
          <p:nvPr/>
        </p:nvSpPr>
        <p:spPr>
          <a:xfrm>
            <a:off x="6263640" y="4617720"/>
            <a:ext cx="2286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Times New Roman"/>
              </a:rPr>
              <a:t>UI Design</a:t>
            </a:r>
          </a:p>
        </p:txBody>
      </p:sp>
      <p:sp>
        <p:nvSpPr>
          <p:cNvPr id="24" name="Agenda note card"/>
          <p:cNvSpPr/>
          <p:nvPr/>
        </p:nvSpPr>
        <p:spPr>
          <a:xfrm>
            <a:off x="8869680" y="3794760"/>
            <a:ext cx="2560320" cy="1920240"/>
          </a:xfrm>
          <a:prstGeom prst="roundRect">
            <a:avLst>
              <a:gd name="adj" fmla="val 9523"/>
            </a:avLst>
          </a:prstGeom>
          <a:noFill/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1">
                <a:solidFill>
                  <a:srgbClr val="C9D6D6"/>
                </a:solidFill>
                <a:latin typeface="Times New Roman"/>
              </a:rPr>
              <a:t>Preceded by a short project overview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Project Overview</a:t>
            </a:r>
          </a:p>
        </p:txBody>
      </p:sp>
      <p:sp>
        <p:nvSpPr>
          <p:cNvPr id="3" name="Problem"/>
          <p:cNvSpPr/>
          <p:nvPr/>
        </p:nvSpPr>
        <p:spPr>
          <a:xfrm>
            <a:off x="640080" y="1463040"/>
            <a:ext cx="5394960" cy="2926080"/>
          </a:xfrm>
          <a:prstGeom prst="roundRect">
            <a:avLst>
              <a:gd name="adj" fmla="val 5624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blem title"/>
          <p:cNvSpPr txBox="1"/>
          <p:nvPr/>
        </p:nvSpPr>
        <p:spPr>
          <a:xfrm>
            <a:off x="749808" y="1554480"/>
            <a:ext cx="517550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Problem body"/>
          <p:cNvSpPr txBox="1"/>
          <p:nvPr/>
        </p:nvSpPr>
        <p:spPr>
          <a:xfrm>
            <a:off x="749808" y="2057400"/>
            <a:ext cx="5175504" cy="2240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OD / leave requests sent by forms, WhatsApp or in person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Faculty must manually check dates, reasons and details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Parents get no formal notice of reason and duration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Hostel students need a separate out-pass; attendance is updated late</a:t>
            </a:r>
          </a:p>
        </p:txBody>
      </p:sp>
      <p:sp>
        <p:nvSpPr>
          <p:cNvPr id="6" name="Solution"/>
          <p:cNvSpPr/>
          <p:nvPr/>
        </p:nvSpPr>
        <p:spPr>
          <a:xfrm>
            <a:off x="6217920" y="1463040"/>
            <a:ext cx="5303520" cy="2926080"/>
          </a:xfrm>
          <a:prstGeom prst="roundRect">
            <a:avLst>
              <a:gd name="adj" fmla="val 5624"/>
            </a:avLst>
          </a:prstGeom>
          <a:solidFill>
            <a:srgbClr val="1E5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lution title"/>
          <p:cNvSpPr txBox="1"/>
          <p:nvPr/>
        </p:nvSpPr>
        <p:spPr>
          <a:xfrm>
            <a:off x="6327648" y="1554480"/>
            <a:ext cx="508406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8" name="Solution body"/>
          <p:cNvSpPr txBox="1"/>
          <p:nvPr/>
        </p:nvSpPr>
        <p:spPr>
          <a:xfrm>
            <a:off x="6327648" y="2057400"/>
            <a:ext cx="5084064" cy="2240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One web platform for student, parent, faculty, warden and admin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Reason, event and duration captured and sent to the parent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Digital approval with remarks and full history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Approved OD feeds the warden list and updates attendance automatically</a:t>
            </a:r>
          </a:p>
        </p:txBody>
      </p:sp>
      <p:sp>
        <p:nvSpPr>
          <p:cNvPr id="9" name="Flow step 1"/>
          <p:cNvSpPr/>
          <p:nvPr/>
        </p:nvSpPr>
        <p:spPr>
          <a:xfrm>
            <a:off x="640080" y="470916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Student submits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5166360"/>
            <a:ext cx="256031" cy="0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 step 2"/>
          <p:cNvSpPr/>
          <p:nvPr/>
        </p:nvSpPr>
        <p:spPr>
          <a:xfrm>
            <a:off x="2852928" y="470916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Parent informed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1456" y="5166360"/>
            <a:ext cx="256032" cy="0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 step 3"/>
          <p:cNvSpPr/>
          <p:nvPr/>
        </p:nvSpPr>
        <p:spPr>
          <a:xfrm>
            <a:off x="5065776" y="470916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Faculty approves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04304" y="5166360"/>
            <a:ext cx="256032" cy="0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ep 4"/>
          <p:cNvSpPr/>
          <p:nvPr/>
        </p:nvSpPr>
        <p:spPr>
          <a:xfrm>
            <a:off x="7278624" y="470916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Warden synced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17152" y="5166360"/>
            <a:ext cx="256032" cy="0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 step 5"/>
          <p:cNvSpPr/>
          <p:nvPr/>
        </p:nvSpPr>
        <p:spPr>
          <a:xfrm>
            <a:off x="9491472" y="470916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Attendance updated</a:t>
            </a:r>
          </a:p>
        </p:txBody>
      </p:sp>
      <p:sp>
        <p:nvSpPr>
          <p:cNvPr id="18" name="Flow caption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400" b="0" i="1">
                <a:solidFill>
                  <a:srgbClr val="C9D6D6"/>
                </a:solidFill>
                <a:latin typeface="Times New Roman"/>
              </a:rPr>
              <a:t>Status stays visible to every role after each decision.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Functional Requirements</a:t>
            </a:r>
          </a:p>
        </p:txBody>
      </p:sp>
      <p:sp>
        <p:nvSpPr>
          <p:cNvPr id="3" name="FR Student"/>
          <p:cNvSpPr/>
          <p:nvPr/>
        </p:nvSpPr>
        <p:spPr>
          <a:xfrm>
            <a:off x="640080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 Student title"/>
          <p:cNvSpPr txBox="1"/>
          <p:nvPr/>
        </p:nvSpPr>
        <p:spPr>
          <a:xfrm>
            <a:off x="7498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Student</a:t>
            </a:r>
          </a:p>
        </p:txBody>
      </p:sp>
      <p:sp>
        <p:nvSpPr>
          <p:cNvPr id="5" name="FR Student body"/>
          <p:cNvSpPr txBox="1"/>
          <p:nvPr/>
        </p:nvSpPr>
        <p:spPr>
          <a:xfrm>
            <a:off x="749808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  Login and view profile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FR2  Submit OD/leave with reason, event, dates, proof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FR3  Track status and history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FR4  View attendance</a:t>
            </a:r>
          </a:p>
        </p:txBody>
      </p:sp>
      <p:sp>
        <p:nvSpPr>
          <p:cNvPr id="6" name="FR Parent"/>
          <p:cNvSpPr/>
          <p:nvPr/>
        </p:nvSpPr>
        <p:spPr>
          <a:xfrm>
            <a:off x="4297680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 Parent title"/>
          <p:cNvSpPr txBox="1"/>
          <p:nvPr/>
        </p:nvSpPr>
        <p:spPr>
          <a:xfrm>
            <a:off x="44074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Parent</a:t>
            </a:r>
          </a:p>
        </p:txBody>
      </p:sp>
      <p:sp>
        <p:nvSpPr>
          <p:cNvPr id="8" name="FR Parent body"/>
          <p:cNvSpPr txBox="1"/>
          <p:nvPr/>
        </p:nvSpPr>
        <p:spPr>
          <a:xfrm>
            <a:off x="4407408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FR5  Receive reason, event and duration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FR6  Acknowledge / confirm the request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FR7  View request history</a:t>
            </a:r>
          </a:p>
        </p:txBody>
      </p:sp>
      <p:sp>
        <p:nvSpPr>
          <p:cNvPr id="9" name="FR Faculty"/>
          <p:cNvSpPr/>
          <p:nvPr/>
        </p:nvSpPr>
        <p:spPr>
          <a:xfrm>
            <a:off x="7955279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 Faculty title"/>
          <p:cNvSpPr txBox="1"/>
          <p:nvPr/>
        </p:nvSpPr>
        <p:spPr>
          <a:xfrm>
            <a:off x="8065007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Faculty</a:t>
            </a:r>
          </a:p>
        </p:txBody>
      </p:sp>
      <p:sp>
        <p:nvSpPr>
          <p:cNvPr id="11" name="FR Faculty body"/>
          <p:cNvSpPr txBox="1"/>
          <p:nvPr/>
        </p:nvSpPr>
        <p:spPr>
          <a:xfrm>
            <a:off x="8065007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FR8  Review pending requests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FR9  Approve or reject with remarks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FR10  Monitor requests and attendance</a:t>
            </a:r>
          </a:p>
        </p:txBody>
      </p:sp>
      <p:sp>
        <p:nvSpPr>
          <p:cNvPr id="12" name="FR Warden"/>
          <p:cNvSpPr/>
          <p:nvPr/>
        </p:nvSpPr>
        <p:spPr>
          <a:xfrm>
            <a:off x="640080" y="379476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 Warden title"/>
          <p:cNvSpPr txBox="1"/>
          <p:nvPr/>
        </p:nvSpPr>
        <p:spPr>
          <a:xfrm>
            <a:off x="749808" y="388620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Warden</a:t>
            </a:r>
          </a:p>
        </p:txBody>
      </p:sp>
      <p:sp>
        <p:nvSpPr>
          <p:cNvPr id="14" name="FR Warden body"/>
          <p:cNvSpPr txBox="1"/>
          <p:nvPr/>
        </p:nvSpPr>
        <p:spPr>
          <a:xfrm>
            <a:off x="749808" y="438912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FR11  Auto-receive approved hostel-student list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FR12  View OD-linked exit status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FR13  Avoid a duplicate out-pass request</a:t>
            </a:r>
          </a:p>
        </p:txBody>
      </p:sp>
      <p:sp>
        <p:nvSpPr>
          <p:cNvPr id="15" name="FR Admin"/>
          <p:cNvSpPr/>
          <p:nvPr/>
        </p:nvSpPr>
        <p:spPr>
          <a:xfrm>
            <a:off x="4297680" y="379476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 Admin title"/>
          <p:cNvSpPr txBox="1"/>
          <p:nvPr/>
        </p:nvSpPr>
        <p:spPr>
          <a:xfrm>
            <a:off x="4407408" y="388620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Admin</a:t>
            </a:r>
          </a:p>
        </p:txBody>
      </p:sp>
      <p:sp>
        <p:nvSpPr>
          <p:cNvPr id="17" name="FR Admin body"/>
          <p:cNvSpPr txBox="1"/>
          <p:nvPr/>
        </p:nvSpPr>
        <p:spPr>
          <a:xfrm>
            <a:off x="4407408" y="438912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FR14  Manage users and roles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FR15  Reports and audit logs</a:t>
            </a:r>
          </a:p>
        </p:txBody>
      </p:sp>
      <p:sp>
        <p:nvSpPr>
          <p:cNvPr id="18" name="FR System"/>
          <p:cNvSpPr/>
          <p:nvPr/>
        </p:nvSpPr>
        <p:spPr>
          <a:xfrm>
            <a:off x="7955279" y="379476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 System title"/>
          <p:cNvSpPr txBox="1"/>
          <p:nvPr/>
        </p:nvSpPr>
        <p:spPr>
          <a:xfrm>
            <a:off x="8065007" y="388620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System</a:t>
            </a:r>
          </a:p>
        </p:txBody>
      </p:sp>
      <p:sp>
        <p:nvSpPr>
          <p:cNvPr id="20" name="FR System body"/>
          <p:cNvSpPr txBox="1"/>
          <p:nvPr/>
        </p:nvSpPr>
        <p:spPr>
          <a:xfrm>
            <a:off x="8065007" y="438912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FR16  Auto-update attendance on approval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FR17  Notify on every status change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FR18  Keep complete digital history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Non-Functional Requirements</a:t>
            </a:r>
          </a:p>
        </p:txBody>
      </p:sp>
      <p:sp>
        <p:nvSpPr>
          <p:cNvPr id="3" name="NFR Performance"/>
          <p:cNvSpPr/>
          <p:nvPr/>
        </p:nvSpPr>
        <p:spPr>
          <a:xfrm>
            <a:off x="640080" y="146304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FR Performance title"/>
          <p:cNvSpPr txBox="1"/>
          <p:nvPr/>
        </p:nvSpPr>
        <p:spPr>
          <a:xfrm>
            <a:off x="749808" y="155448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Performance</a:t>
            </a:r>
          </a:p>
        </p:txBody>
      </p:sp>
      <p:sp>
        <p:nvSpPr>
          <p:cNvPr id="5" name="NFR Performance body"/>
          <p:cNvSpPr txBox="1"/>
          <p:nvPr/>
        </p:nvSpPr>
        <p:spPr>
          <a:xfrm>
            <a:off x="749808" y="205740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Pages respond in about 3 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Request submit is quick</a:t>
            </a:r>
          </a:p>
        </p:txBody>
      </p:sp>
      <p:sp>
        <p:nvSpPr>
          <p:cNvPr id="6" name="NFR Security"/>
          <p:cNvSpPr/>
          <p:nvPr/>
        </p:nvSpPr>
        <p:spPr>
          <a:xfrm>
            <a:off x="3383280" y="146304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FR Security title"/>
          <p:cNvSpPr txBox="1"/>
          <p:nvPr/>
        </p:nvSpPr>
        <p:spPr>
          <a:xfrm>
            <a:off x="3493008" y="155448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Security</a:t>
            </a:r>
          </a:p>
        </p:txBody>
      </p:sp>
      <p:sp>
        <p:nvSpPr>
          <p:cNvPr id="8" name="NFR Security body"/>
          <p:cNvSpPr txBox="1"/>
          <p:nvPr/>
        </p:nvSpPr>
        <p:spPr>
          <a:xfrm>
            <a:off x="3493008" y="205740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JWT authentication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Hashed passwords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Role-based access</a:t>
            </a:r>
          </a:p>
        </p:txBody>
      </p:sp>
      <p:sp>
        <p:nvSpPr>
          <p:cNvPr id="9" name="NFR Usability"/>
          <p:cNvSpPr/>
          <p:nvPr/>
        </p:nvSpPr>
        <p:spPr>
          <a:xfrm>
            <a:off x="6126480" y="146304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FR Usability title"/>
          <p:cNvSpPr txBox="1"/>
          <p:nvPr/>
        </p:nvSpPr>
        <p:spPr>
          <a:xfrm>
            <a:off x="6236208" y="155448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Usability</a:t>
            </a:r>
          </a:p>
        </p:txBody>
      </p:sp>
      <p:sp>
        <p:nvSpPr>
          <p:cNvPr id="11" name="NFR Usability body"/>
          <p:cNvSpPr txBox="1"/>
          <p:nvPr/>
        </p:nvSpPr>
        <p:spPr>
          <a:xfrm>
            <a:off x="6236208" y="205740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Simple, responsive UI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Few steps to apply</a:t>
            </a:r>
          </a:p>
        </p:txBody>
      </p:sp>
      <p:sp>
        <p:nvSpPr>
          <p:cNvPr id="12" name="NFR Reliability"/>
          <p:cNvSpPr/>
          <p:nvPr/>
        </p:nvSpPr>
        <p:spPr>
          <a:xfrm>
            <a:off x="8869680" y="146304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FR Reliability title"/>
          <p:cNvSpPr txBox="1"/>
          <p:nvPr/>
        </p:nvSpPr>
        <p:spPr>
          <a:xfrm>
            <a:off x="8979407" y="155448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Reliability</a:t>
            </a:r>
          </a:p>
        </p:txBody>
      </p:sp>
      <p:sp>
        <p:nvSpPr>
          <p:cNvPr id="14" name="NFR Reliability body"/>
          <p:cNvSpPr txBox="1"/>
          <p:nvPr/>
        </p:nvSpPr>
        <p:spPr>
          <a:xfrm>
            <a:off x="8979407" y="205740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No lost requests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Consistent records</a:t>
            </a:r>
          </a:p>
        </p:txBody>
      </p:sp>
      <p:sp>
        <p:nvSpPr>
          <p:cNvPr id="15" name="NFR Scalability"/>
          <p:cNvSpPr/>
          <p:nvPr/>
        </p:nvSpPr>
        <p:spPr>
          <a:xfrm>
            <a:off x="640080" y="379476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FR Scalability title"/>
          <p:cNvSpPr txBox="1"/>
          <p:nvPr/>
        </p:nvSpPr>
        <p:spPr>
          <a:xfrm>
            <a:off x="749808" y="388620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Scalability</a:t>
            </a:r>
          </a:p>
        </p:txBody>
      </p:sp>
      <p:sp>
        <p:nvSpPr>
          <p:cNvPr id="17" name="NFR Scalability body"/>
          <p:cNvSpPr txBox="1"/>
          <p:nvPr/>
        </p:nvSpPr>
        <p:spPr>
          <a:xfrm>
            <a:off x="749808" y="438912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Handles more students and departments</a:t>
            </a:r>
          </a:p>
        </p:txBody>
      </p:sp>
      <p:sp>
        <p:nvSpPr>
          <p:cNvPr id="18" name="NFR Availability"/>
          <p:cNvSpPr/>
          <p:nvPr/>
        </p:nvSpPr>
        <p:spPr>
          <a:xfrm>
            <a:off x="3383280" y="379476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FR Availability title"/>
          <p:cNvSpPr txBox="1"/>
          <p:nvPr/>
        </p:nvSpPr>
        <p:spPr>
          <a:xfrm>
            <a:off x="3493008" y="388620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Availability</a:t>
            </a:r>
          </a:p>
        </p:txBody>
      </p:sp>
      <p:sp>
        <p:nvSpPr>
          <p:cNvPr id="20" name="NFR Availability body"/>
          <p:cNvSpPr txBox="1"/>
          <p:nvPr/>
        </p:nvSpPr>
        <p:spPr>
          <a:xfrm>
            <a:off x="3493008" y="438912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Web access any time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Works on any device</a:t>
            </a:r>
          </a:p>
        </p:txBody>
      </p:sp>
      <p:sp>
        <p:nvSpPr>
          <p:cNvPr id="21" name="NFR Maintainability"/>
          <p:cNvSpPr/>
          <p:nvPr/>
        </p:nvSpPr>
        <p:spPr>
          <a:xfrm>
            <a:off x="6126480" y="379476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FR Maintainability title"/>
          <p:cNvSpPr txBox="1"/>
          <p:nvPr/>
        </p:nvSpPr>
        <p:spPr>
          <a:xfrm>
            <a:off x="6236208" y="388620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Maintainability</a:t>
            </a:r>
          </a:p>
        </p:txBody>
      </p:sp>
      <p:sp>
        <p:nvSpPr>
          <p:cNvPr id="23" name="NFR Maintainability body"/>
          <p:cNvSpPr txBox="1"/>
          <p:nvPr/>
        </p:nvSpPr>
        <p:spPr>
          <a:xfrm>
            <a:off x="6236208" y="438912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Modular code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Clean REST APIs</a:t>
            </a:r>
          </a:p>
        </p:txBody>
      </p:sp>
      <p:sp>
        <p:nvSpPr>
          <p:cNvPr id="24" name="NFR Compatibility"/>
          <p:cNvSpPr/>
          <p:nvPr/>
        </p:nvSpPr>
        <p:spPr>
          <a:xfrm>
            <a:off x="8869680" y="3794760"/>
            <a:ext cx="2560320" cy="2148840"/>
          </a:xfrm>
          <a:prstGeom prst="roundRect">
            <a:avLst>
              <a:gd name="adj" fmla="val 765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FR Compatibility title"/>
          <p:cNvSpPr txBox="1"/>
          <p:nvPr/>
        </p:nvSpPr>
        <p:spPr>
          <a:xfrm>
            <a:off x="8979407" y="3886200"/>
            <a:ext cx="23408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Compatibility</a:t>
            </a:r>
          </a:p>
        </p:txBody>
      </p:sp>
      <p:sp>
        <p:nvSpPr>
          <p:cNvPr id="26" name="NFR Compatibility body"/>
          <p:cNvSpPr txBox="1"/>
          <p:nvPr/>
        </p:nvSpPr>
        <p:spPr>
          <a:xfrm>
            <a:off x="8979407" y="4389120"/>
            <a:ext cx="2340863" cy="1463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Modern browsers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Desktop and mobile</a:t>
            </a:r>
          </a:p>
        </p:txBody>
      </p:sp>
      <p:sp>
        <p:nvSpPr>
          <p:cNvPr id="27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Client Student"/>
          <p:cNvSpPr/>
          <p:nvPr/>
        </p:nvSpPr>
        <p:spPr>
          <a:xfrm>
            <a:off x="82296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Student</a:t>
            </a:r>
          </a:p>
        </p:txBody>
      </p:sp>
      <p:sp>
        <p:nvSpPr>
          <p:cNvPr id="4" name="Client Parent"/>
          <p:cNvSpPr/>
          <p:nvPr/>
        </p:nvSpPr>
        <p:spPr>
          <a:xfrm>
            <a:off x="2926079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Parent</a:t>
            </a:r>
          </a:p>
        </p:txBody>
      </p:sp>
      <p:sp>
        <p:nvSpPr>
          <p:cNvPr id="5" name="Client Faculty"/>
          <p:cNvSpPr/>
          <p:nvPr/>
        </p:nvSpPr>
        <p:spPr>
          <a:xfrm>
            <a:off x="502920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Faculty</a:t>
            </a:r>
          </a:p>
        </p:txBody>
      </p:sp>
      <p:sp>
        <p:nvSpPr>
          <p:cNvPr id="6" name="Client Warden"/>
          <p:cNvSpPr/>
          <p:nvPr/>
        </p:nvSpPr>
        <p:spPr>
          <a:xfrm>
            <a:off x="713232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Warden</a:t>
            </a:r>
          </a:p>
        </p:txBody>
      </p:sp>
      <p:sp>
        <p:nvSpPr>
          <p:cNvPr id="7" name="Client Admin"/>
          <p:cNvSpPr/>
          <p:nvPr/>
        </p:nvSpPr>
        <p:spPr>
          <a:xfrm>
            <a:off x="923544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Admin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938528"/>
            <a:ext cx="0" cy="347472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esentation layer"/>
          <p:cNvSpPr/>
          <p:nvPr/>
        </p:nvSpPr>
        <p:spPr>
          <a:xfrm>
            <a:off x="822960" y="228600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Presentation Layer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HTML  •  CSS / Bootstrap  •  JavaScript  –  role-based responsive dashboards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035808"/>
            <a:ext cx="0" cy="347472"/>
          </a:xfrm>
          <a:prstGeom prst="line">
            <a:avLst/>
          </a:prstGeom>
          <a:ln w="28575">
            <a:solidFill>
              <a:srgbClr val="E6B72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pplication layer frame"/>
          <p:cNvSpPr/>
          <p:nvPr/>
        </p:nvSpPr>
        <p:spPr>
          <a:xfrm>
            <a:off x="822960" y="3383280"/>
            <a:ext cx="10515600" cy="1828800"/>
          </a:xfrm>
          <a:prstGeom prst="roundRect">
            <a:avLst>
              <a:gd name="adj" fmla="val 7500"/>
            </a:avLst>
          </a:prstGeom>
          <a:solidFill>
            <a:srgbClr val="1E5155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pplication layer title"/>
          <p:cNvSpPr txBox="1"/>
          <p:nvPr/>
        </p:nvSpPr>
        <p:spPr>
          <a:xfrm>
            <a:off x="960120" y="3419856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Times New Roman"/>
              </a:rPr>
              <a:t>Application Layer – Node.js / Express REST API   (JWT auth • role-based access • request validation)</a:t>
            </a:r>
          </a:p>
        </p:txBody>
      </p:sp>
      <p:sp>
        <p:nvSpPr>
          <p:cNvPr id="13" name="Service 1"/>
          <p:cNvSpPr/>
          <p:nvPr/>
        </p:nvSpPr>
        <p:spPr>
          <a:xfrm>
            <a:off x="1005840" y="3931920"/>
            <a:ext cx="1828800" cy="1097280"/>
          </a:xfrm>
          <a:prstGeom prst="roundRect">
            <a:avLst>
              <a:gd name="adj" fmla="val 6666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Request</a:t>
            </a:r>
          </a:p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Service</a:t>
            </a:r>
          </a:p>
        </p:txBody>
      </p:sp>
      <p:sp>
        <p:nvSpPr>
          <p:cNvPr id="14" name="Service 2"/>
          <p:cNvSpPr/>
          <p:nvPr/>
        </p:nvSpPr>
        <p:spPr>
          <a:xfrm>
            <a:off x="3017520" y="3931920"/>
            <a:ext cx="1828800" cy="1097280"/>
          </a:xfrm>
          <a:prstGeom prst="roundRect">
            <a:avLst>
              <a:gd name="adj" fmla="val 6666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Approval</a:t>
            </a:r>
          </a:p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Service</a:t>
            </a:r>
          </a:p>
        </p:txBody>
      </p:sp>
      <p:sp>
        <p:nvSpPr>
          <p:cNvPr id="15" name="Service 3"/>
          <p:cNvSpPr/>
          <p:nvPr/>
        </p:nvSpPr>
        <p:spPr>
          <a:xfrm>
            <a:off x="5029200" y="3931920"/>
            <a:ext cx="1828800" cy="1097280"/>
          </a:xfrm>
          <a:prstGeom prst="roundRect">
            <a:avLst>
              <a:gd name="adj" fmla="val 6666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Attendance</a:t>
            </a:r>
          </a:p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Service</a:t>
            </a:r>
          </a:p>
        </p:txBody>
      </p:sp>
      <p:sp>
        <p:nvSpPr>
          <p:cNvPr id="16" name="Service 4"/>
          <p:cNvSpPr/>
          <p:nvPr/>
        </p:nvSpPr>
        <p:spPr>
          <a:xfrm>
            <a:off x="7040880" y="3931920"/>
            <a:ext cx="1828800" cy="1097280"/>
          </a:xfrm>
          <a:prstGeom prst="roundRect">
            <a:avLst>
              <a:gd name="adj" fmla="val 6666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Hostel</a:t>
            </a:r>
          </a:p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Service</a:t>
            </a:r>
          </a:p>
        </p:txBody>
      </p:sp>
      <p:sp>
        <p:nvSpPr>
          <p:cNvPr id="17" name="Service 5"/>
          <p:cNvSpPr/>
          <p:nvPr/>
        </p:nvSpPr>
        <p:spPr>
          <a:xfrm>
            <a:off x="9052560" y="3931920"/>
            <a:ext cx="1828800" cy="1097280"/>
          </a:xfrm>
          <a:prstGeom prst="roundRect">
            <a:avLst>
              <a:gd name="adj" fmla="val 6666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Notification</a:t>
            </a:r>
          </a:p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5230368"/>
            <a:ext cx="0" cy="301752"/>
          </a:xfrm>
          <a:prstGeom prst="line">
            <a:avLst/>
          </a:prstGeom>
          <a:ln w="28575">
            <a:solidFill>
              <a:srgbClr val="E6B72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15600" y="5230368"/>
            <a:ext cx="0" cy="301752"/>
          </a:xfrm>
          <a:prstGeom prst="line">
            <a:avLst/>
          </a:prstGeom>
          <a:ln w="28575">
            <a:solidFill>
              <a:srgbClr val="E6B72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atabase layer"/>
          <p:cNvSpPr/>
          <p:nvPr/>
        </p:nvSpPr>
        <p:spPr>
          <a:xfrm>
            <a:off x="822960" y="5532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MongoDB Database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Users • Students • Requests • Approvals • Attendance • Hostel exits • Notifications • Audit</a:t>
            </a:r>
          </a:p>
        </p:txBody>
      </p:sp>
      <p:sp>
        <p:nvSpPr>
          <p:cNvPr id="21" name="External gateway"/>
          <p:cNvSpPr/>
          <p:nvPr/>
        </p:nvSpPr>
        <p:spPr>
          <a:xfrm>
            <a:off x="9144000" y="55321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6B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23336"/>
                </a:solidFill>
                <a:latin typeface="Times New Roman"/>
              </a:rPr>
              <a:t>Email / SMS gateway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Use Case Diagram</a:t>
            </a:r>
          </a:p>
        </p:txBody>
      </p:sp>
      <p:sp>
        <p:nvSpPr>
          <p:cNvPr id="3" name="System boundary"/>
          <p:cNvSpPr/>
          <p:nvPr/>
        </p:nvSpPr>
        <p:spPr>
          <a:xfrm>
            <a:off x="2834640" y="1508760"/>
            <a:ext cx="6355080" cy="4892040"/>
          </a:xfrm>
          <a:prstGeom prst="rect">
            <a:avLst/>
          </a:prstGeom>
          <a:noFill/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undary label"/>
          <p:cNvSpPr txBox="1"/>
          <p:nvPr/>
        </p:nvSpPr>
        <p:spPr>
          <a:xfrm>
            <a:off x="2926080" y="1536192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300" b="0" i="1">
                <a:solidFill>
                  <a:srgbClr val="C9D6D6"/>
                </a:solidFill>
                <a:latin typeface="Times New Roman"/>
              </a:rPr>
              <a:t>OD &amp; Leave Approval System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737360" y="2569463"/>
            <a:ext cx="1280160" cy="539497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37360" y="3108960"/>
            <a:ext cx="1280160" cy="5486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37360" y="3108960"/>
            <a:ext cx="1280160" cy="64922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37360" y="3108960"/>
            <a:ext cx="1280160" cy="124358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737360" y="5129783"/>
            <a:ext cx="1280160" cy="36577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7360" y="5166360"/>
            <a:ext cx="1280160" cy="60350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9098280" y="2615184"/>
            <a:ext cx="1463040" cy="219456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098280" y="2834640"/>
            <a:ext cx="1463040" cy="37490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098280" y="4251960"/>
            <a:ext cx="1463040" cy="14630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098280" y="4251960"/>
            <a:ext cx="1463040" cy="74066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098280" y="5577840"/>
            <a:ext cx="1463040" cy="9143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098280" y="5577840"/>
            <a:ext cx="1463040" cy="603504"/>
          </a:xfrm>
          <a:prstGeom prst="line">
            <a:avLst/>
          </a:prstGeom>
          <a:ln w="15875">
            <a:solidFill>
              <a:srgbClr val="C9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UC Submit OD / Leave"/>
          <p:cNvSpPr/>
          <p:nvPr/>
        </p:nvSpPr>
        <p:spPr>
          <a:xfrm>
            <a:off x="3017520" y="233172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Submit OD / Leave</a:t>
            </a:r>
          </a:p>
        </p:txBody>
      </p:sp>
      <p:sp>
        <p:nvSpPr>
          <p:cNvPr id="18" name="UC Upload Supporting Proof"/>
          <p:cNvSpPr/>
          <p:nvPr/>
        </p:nvSpPr>
        <p:spPr>
          <a:xfrm>
            <a:off x="3017520" y="292608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Upload Supporting Proof</a:t>
            </a:r>
          </a:p>
        </p:txBody>
      </p:sp>
      <p:sp>
        <p:nvSpPr>
          <p:cNvPr id="19" name="UC Track Request Status"/>
          <p:cNvSpPr/>
          <p:nvPr/>
        </p:nvSpPr>
        <p:spPr>
          <a:xfrm>
            <a:off x="3017520" y="352044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Track Request Status</a:t>
            </a:r>
          </a:p>
        </p:txBody>
      </p:sp>
      <p:sp>
        <p:nvSpPr>
          <p:cNvPr id="20" name="UC View Attendance"/>
          <p:cNvSpPr/>
          <p:nvPr/>
        </p:nvSpPr>
        <p:spPr>
          <a:xfrm>
            <a:off x="3017520" y="411480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View Attendance</a:t>
            </a:r>
          </a:p>
        </p:txBody>
      </p:sp>
      <p:sp>
        <p:nvSpPr>
          <p:cNvPr id="21" name="UC Receive Notification"/>
          <p:cNvSpPr/>
          <p:nvPr/>
        </p:nvSpPr>
        <p:spPr>
          <a:xfrm>
            <a:off x="3017520" y="489204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Receive Notification</a:t>
            </a:r>
          </a:p>
        </p:txBody>
      </p:sp>
      <p:sp>
        <p:nvSpPr>
          <p:cNvPr id="22" name="UC Acknowledge Request"/>
          <p:cNvSpPr/>
          <p:nvPr/>
        </p:nvSpPr>
        <p:spPr>
          <a:xfrm>
            <a:off x="3017520" y="553212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Acknowledge Request</a:t>
            </a:r>
          </a:p>
        </p:txBody>
      </p:sp>
      <p:sp>
        <p:nvSpPr>
          <p:cNvPr id="23" name="UC Login / Logout (all actors)"/>
          <p:cNvSpPr/>
          <p:nvPr/>
        </p:nvSpPr>
        <p:spPr>
          <a:xfrm>
            <a:off x="6400800" y="1783080"/>
            <a:ext cx="2697480" cy="475488"/>
          </a:xfrm>
          <a:prstGeom prst="ellipse">
            <a:avLst/>
          </a:prstGeom>
          <a:solidFill>
            <a:srgbClr val="E6B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Login / Logout (all actors)</a:t>
            </a:r>
          </a:p>
        </p:txBody>
      </p:sp>
      <p:sp>
        <p:nvSpPr>
          <p:cNvPr id="24" name="UC Review Request"/>
          <p:cNvSpPr/>
          <p:nvPr/>
        </p:nvSpPr>
        <p:spPr>
          <a:xfrm>
            <a:off x="6400800" y="237744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Review Request</a:t>
            </a:r>
          </a:p>
        </p:txBody>
      </p:sp>
      <p:sp>
        <p:nvSpPr>
          <p:cNvPr id="25" name="UC Approve / Reject"/>
          <p:cNvSpPr/>
          <p:nvPr/>
        </p:nvSpPr>
        <p:spPr>
          <a:xfrm>
            <a:off x="6400800" y="297180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Approve / Reject</a:t>
            </a:r>
          </a:p>
        </p:txBody>
      </p:sp>
      <p:sp>
        <p:nvSpPr>
          <p:cNvPr id="26" name="UC Auto-update Attendance"/>
          <p:cNvSpPr/>
          <p:nvPr/>
        </p:nvSpPr>
        <p:spPr>
          <a:xfrm>
            <a:off x="6400800" y="3566160"/>
            <a:ext cx="2697480" cy="475488"/>
          </a:xfrm>
          <a:prstGeom prst="ellipse">
            <a:avLst/>
          </a:prstGeom>
          <a:solidFill>
            <a:srgbClr val="E6B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Auto-update Attendance</a:t>
            </a:r>
          </a:p>
        </p:txBody>
      </p:sp>
      <p:sp>
        <p:nvSpPr>
          <p:cNvPr id="27" name="UC View Hostel OD List"/>
          <p:cNvSpPr/>
          <p:nvPr/>
        </p:nvSpPr>
        <p:spPr>
          <a:xfrm>
            <a:off x="6400800" y="416052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View Hostel OD List</a:t>
            </a:r>
          </a:p>
        </p:txBody>
      </p:sp>
      <p:sp>
        <p:nvSpPr>
          <p:cNvPr id="28" name="UC Verify OD-linked Exit"/>
          <p:cNvSpPr/>
          <p:nvPr/>
        </p:nvSpPr>
        <p:spPr>
          <a:xfrm>
            <a:off x="6400800" y="475488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Verify OD-linked Exit</a:t>
            </a:r>
          </a:p>
        </p:txBody>
      </p:sp>
      <p:sp>
        <p:nvSpPr>
          <p:cNvPr id="29" name="UC Manage Users &amp; Roles"/>
          <p:cNvSpPr/>
          <p:nvPr/>
        </p:nvSpPr>
        <p:spPr>
          <a:xfrm>
            <a:off x="6400800" y="534924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Manage Users &amp; Roles</a:t>
            </a:r>
          </a:p>
        </p:txBody>
      </p:sp>
      <p:sp>
        <p:nvSpPr>
          <p:cNvPr id="30" name="UC Reports &amp; Audit Logs"/>
          <p:cNvSpPr/>
          <p:nvPr/>
        </p:nvSpPr>
        <p:spPr>
          <a:xfrm>
            <a:off x="6400800" y="5943600"/>
            <a:ext cx="2697480" cy="475488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300" b="1" i="0">
                <a:solidFill>
                  <a:srgbClr val="123336"/>
                </a:solidFill>
                <a:latin typeface="Times New Roman"/>
              </a:rPr>
              <a:t>Reports &amp; Audit Logs</a:t>
            </a:r>
          </a:p>
        </p:txBody>
      </p:sp>
      <p:sp>
        <p:nvSpPr>
          <p:cNvPr id="31" name="Actor Student head"/>
          <p:cNvSpPr/>
          <p:nvPr/>
        </p:nvSpPr>
        <p:spPr>
          <a:xfrm>
            <a:off x="1143000" y="2633472"/>
            <a:ext cx="365760" cy="365760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ctor Student body"/>
          <p:cNvSpPr/>
          <p:nvPr/>
        </p:nvSpPr>
        <p:spPr>
          <a:xfrm>
            <a:off x="960119" y="301752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ctor Student label"/>
          <p:cNvSpPr txBox="1"/>
          <p:nvPr/>
        </p:nvSpPr>
        <p:spPr>
          <a:xfrm>
            <a:off x="594359" y="3474720"/>
            <a:ext cx="14630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Student</a:t>
            </a:r>
          </a:p>
        </p:txBody>
      </p:sp>
      <p:sp>
        <p:nvSpPr>
          <p:cNvPr id="34" name="Actor Parent head"/>
          <p:cNvSpPr/>
          <p:nvPr/>
        </p:nvSpPr>
        <p:spPr>
          <a:xfrm>
            <a:off x="1143000" y="4690872"/>
            <a:ext cx="365760" cy="365760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ctor Parent body"/>
          <p:cNvSpPr/>
          <p:nvPr/>
        </p:nvSpPr>
        <p:spPr>
          <a:xfrm>
            <a:off x="960119" y="507492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ctor Parent label"/>
          <p:cNvSpPr txBox="1"/>
          <p:nvPr/>
        </p:nvSpPr>
        <p:spPr>
          <a:xfrm>
            <a:off x="594359" y="5532120"/>
            <a:ext cx="14630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Parent</a:t>
            </a:r>
          </a:p>
        </p:txBody>
      </p:sp>
      <p:sp>
        <p:nvSpPr>
          <p:cNvPr id="37" name="Actor Faculty head"/>
          <p:cNvSpPr/>
          <p:nvPr/>
        </p:nvSpPr>
        <p:spPr>
          <a:xfrm>
            <a:off x="10789920" y="2359152"/>
            <a:ext cx="365760" cy="365760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ctor Faculty body"/>
          <p:cNvSpPr/>
          <p:nvPr/>
        </p:nvSpPr>
        <p:spPr>
          <a:xfrm>
            <a:off x="10607040" y="274320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ctor Faculty label"/>
          <p:cNvSpPr txBox="1"/>
          <p:nvPr/>
        </p:nvSpPr>
        <p:spPr>
          <a:xfrm>
            <a:off x="10241280" y="3200400"/>
            <a:ext cx="14630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Faculty</a:t>
            </a:r>
          </a:p>
        </p:txBody>
      </p:sp>
      <p:sp>
        <p:nvSpPr>
          <p:cNvPr id="40" name="Actor Warden head"/>
          <p:cNvSpPr/>
          <p:nvPr/>
        </p:nvSpPr>
        <p:spPr>
          <a:xfrm>
            <a:off x="10789920" y="3776472"/>
            <a:ext cx="365760" cy="365760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ctor Warden body"/>
          <p:cNvSpPr/>
          <p:nvPr/>
        </p:nvSpPr>
        <p:spPr>
          <a:xfrm>
            <a:off x="10607040" y="416052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ctor Warden label"/>
          <p:cNvSpPr txBox="1"/>
          <p:nvPr/>
        </p:nvSpPr>
        <p:spPr>
          <a:xfrm>
            <a:off x="10241280" y="4617720"/>
            <a:ext cx="14630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Warden</a:t>
            </a:r>
          </a:p>
        </p:txBody>
      </p:sp>
      <p:sp>
        <p:nvSpPr>
          <p:cNvPr id="43" name="Actor Admin head"/>
          <p:cNvSpPr/>
          <p:nvPr/>
        </p:nvSpPr>
        <p:spPr>
          <a:xfrm>
            <a:off x="10789920" y="5102352"/>
            <a:ext cx="365760" cy="365760"/>
          </a:xfrm>
          <a:prstGeom prst="ellipse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ctor Admin body"/>
          <p:cNvSpPr/>
          <p:nvPr/>
        </p:nvSpPr>
        <p:spPr>
          <a:xfrm>
            <a:off x="10607040" y="5486400"/>
            <a:ext cx="731520" cy="457200"/>
          </a:xfrm>
          <a:prstGeom prst="roundRect">
            <a:avLst>
              <a:gd name="adj" fmla="val 4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ctor Admin label"/>
          <p:cNvSpPr txBox="1"/>
          <p:nvPr/>
        </p:nvSpPr>
        <p:spPr>
          <a:xfrm>
            <a:off x="10241280" y="5943600"/>
            <a:ext cx="14630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Admin</a:t>
            </a:r>
          </a:p>
        </p:txBody>
      </p:sp>
      <p:sp>
        <p:nvSpPr>
          <p:cNvPr id="46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ER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80360" y="2468880"/>
            <a:ext cx="640080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l PARENT-STUDENT"/>
          <p:cNvSpPr txBox="1"/>
          <p:nvPr/>
        </p:nvSpPr>
        <p:spPr>
          <a:xfrm>
            <a:off x="2834640" y="21214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1 : 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0" y="2468880"/>
            <a:ext cx="640080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l STUDENT-USER"/>
          <p:cNvSpPr txBox="1"/>
          <p:nvPr/>
        </p:nvSpPr>
        <p:spPr>
          <a:xfrm>
            <a:off x="5806440" y="21214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1 :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23959" y="2468880"/>
            <a:ext cx="640081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l USER-NOTIFICATION"/>
          <p:cNvSpPr txBox="1"/>
          <p:nvPr/>
        </p:nvSpPr>
        <p:spPr>
          <a:xfrm>
            <a:off x="8778239" y="21214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1 : 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5212080"/>
            <a:ext cx="640080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l ATTENDANCE-OD_REQUEST"/>
          <p:cNvSpPr txBox="1"/>
          <p:nvPr/>
        </p:nvSpPr>
        <p:spPr>
          <a:xfrm>
            <a:off x="2834640" y="48646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N :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5212080"/>
            <a:ext cx="640080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l OD_REQUEST-APPROVAL"/>
          <p:cNvSpPr txBox="1"/>
          <p:nvPr/>
        </p:nvSpPr>
        <p:spPr>
          <a:xfrm>
            <a:off x="5806440" y="48646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1 : 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959" y="5212080"/>
            <a:ext cx="640081" cy="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l APPROVAL-HOSTEL_EXIT"/>
          <p:cNvSpPr txBox="1"/>
          <p:nvPr/>
        </p:nvSpPr>
        <p:spPr>
          <a:xfrm>
            <a:off x="8778239" y="4864608"/>
            <a:ext cx="77724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ctr"/>
            <a:r>
              <a:rPr sz="1100" b="1" i="0">
                <a:solidFill>
                  <a:srgbClr val="E6B729"/>
                </a:solidFill>
                <a:latin typeface="Times New Roman"/>
              </a:rPr>
              <a:t>1 : 0..1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86300" y="3566160"/>
            <a:ext cx="0" cy="50292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l STUDENT-OD_REQUEST"/>
          <p:cNvSpPr txBox="1"/>
          <p:nvPr/>
        </p:nvSpPr>
        <p:spPr>
          <a:xfrm>
            <a:off x="4777740" y="3675888"/>
            <a:ext cx="82296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E6B729"/>
                </a:solidFill>
                <a:latin typeface="Times New Roman"/>
              </a:rPr>
              <a:t>1 : 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58100" y="3566160"/>
            <a:ext cx="0" cy="502920"/>
          </a:xfrm>
          <a:prstGeom prst="line">
            <a:avLst/>
          </a:prstGeom>
          <a:ln w="25400">
            <a:solidFill>
              <a:srgbClr val="E6B7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l USER-APPROVAL"/>
          <p:cNvSpPr txBox="1"/>
          <p:nvPr/>
        </p:nvSpPr>
        <p:spPr>
          <a:xfrm>
            <a:off x="7749540" y="3675888"/>
            <a:ext cx="822960" cy="29260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E6B729"/>
                </a:solidFill>
                <a:latin typeface="Times New Roman"/>
              </a:rPr>
              <a:t>1 : N</a:t>
            </a:r>
          </a:p>
        </p:txBody>
      </p:sp>
      <p:sp>
        <p:nvSpPr>
          <p:cNvPr id="19" name="Entity PARENT"/>
          <p:cNvSpPr/>
          <p:nvPr/>
        </p:nvSpPr>
        <p:spPr>
          <a:xfrm>
            <a:off x="548640" y="13258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ntity head PARENT"/>
          <p:cNvSpPr/>
          <p:nvPr/>
        </p:nvSpPr>
        <p:spPr>
          <a:xfrm>
            <a:off x="548640" y="13258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PARENT</a:t>
            </a:r>
          </a:p>
        </p:txBody>
      </p:sp>
      <p:sp>
        <p:nvSpPr>
          <p:cNvPr id="21" name="Entity attrs PARENT"/>
          <p:cNvSpPr txBox="1"/>
          <p:nvPr/>
        </p:nvSpPr>
        <p:spPr>
          <a:xfrm>
            <a:off x="621792" y="17099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parent_id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user_id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name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phone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email</a:t>
            </a:r>
          </a:p>
        </p:txBody>
      </p:sp>
      <p:sp>
        <p:nvSpPr>
          <p:cNvPr id="22" name="Entity STUDENT"/>
          <p:cNvSpPr/>
          <p:nvPr/>
        </p:nvSpPr>
        <p:spPr>
          <a:xfrm>
            <a:off x="3520440" y="13258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ntity head STUDENT"/>
          <p:cNvSpPr/>
          <p:nvPr/>
        </p:nvSpPr>
        <p:spPr>
          <a:xfrm>
            <a:off x="3520440" y="13258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STUDENT</a:t>
            </a:r>
          </a:p>
        </p:txBody>
      </p:sp>
      <p:sp>
        <p:nvSpPr>
          <p:cNvPr id="24" name="Entity attrs STUDENT"/>
          <p:cNvSpPr txBox="1"/>
          <p:nvPr/>
        </p:nvSpPr>
        <p:spPr>
          <a:xfrm>
            <a:off x="3593592" y="17099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student_id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user_id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parent_id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roll_no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department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year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is_hosteller</a:t>
            </a:r>
          </a:p>
        </p:txBody>
      </p:sp>
      <p:sp>
        <p:nvSpPr>
          <p:cNvPr id="25" name="Entity USER"/>
          <p:cNvSpPr/>
          <p:nvPr/>
        </p:nvSpPr>
        <p:spPr>
          <a:xfrm>
            <a:off x="6492240" y="13258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ntity head USER"/>
          <p:cNvSpPr/>
          <p:nvPr/>
        </p:nvSpPr>
        <p:spPr>
          <a:xfrm>
            <a:off x="6492240" y="13258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USER</a:t>
            </a:r>
          </a:p>
        </p:txBody>
      </p:sp>
      <p:sp>
        <p:nvSpPr>
          <p:cNvPr id="27" name="Entity attrs USER"/>
          <p:cNvSpPr txBox="1"/>
          <p:nvPr/>
        </p:nvSpPr>
        <p:spPr>
          <a:xfrm>
            <a:off x="6565392" y="17099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user_id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name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email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password_hash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role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phone</a:t>
            </a:r>
          </a:p>
        </p:txBody>
      </p:sp>
      <p:sp>
        <p:nvSpPr>
          <p:cNvPr id="28" name="Entity NOTIFICATION"/>
          <p:cNvSpPr/>
          <p:nvPr/>
        </p:nvSpPr>
        <p:spPr>
          <a:xfrm>
            <a:off x="9464040" y="13258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ntity head NOTIFICATION"/>
          <p:cNvSpPr/>
          <p:nvPr/>
        </p:nvSpPr>
        <p:spPr>
          <a:xfrm>
            <a:off x="9464040" y="13258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NOTIFICATION</a:t>
            </a:r>
          </a:p>
        </p:txBody>
      </p:sp>
      <p:sp>
        <p:nvSpPr>
          <p:cNvPr id="30" name="Entity attrs NOTIFICATION"/>
          <p:cNvSpPr txBox="1"/>
          <p:nvPr/>
        </p:nvSpPr>
        <p:spPr>
          <a:xfrm>
            <a:off x="9537192" y="17099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notif_id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user_id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request_id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message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channel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sent_at</a:t>
            </a:r>
          </a:p>
        </p:txBody>
      </p:sp>
      <p:sp>
        <p:nvSpPr>
          <p:cNvPr id="31" name="Entity ATTENDANCE"/>
          <p:cNvSpPr/>
          <p:nvPr/>
        </p:nvSpPr>
        <p:spPr>
          <a:xfrm>
            <a:off x="548640" y="40690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ntity head ATTENDANCE"/>
          <p:cNvSpPr/>
          <p:nvPr/>
        </p:nvSpPr>
        <p:spPr>
          <a:xfrm>
            <a:off x="548640" y="40690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ATTENDANCE</a:t>
            </a:r>
          </a:p>
        </p:txBody>
      </p:sp>
      <p:sp>
        <p:nvSpPr>
          <p:cNvPr id="33" name="Entity attrs ATTENDANCE"/>
          <p:cNvSpPr txBox="1"/>
          <p:nvPr/>
        </p:nvSpPr>
        <p:spPr>
          <a:xfrm>
            <a:off x="621792" y="44531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attendance_id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student_id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request_id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subject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date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status</a:t>
            </a:r>
          </a:p>
        </p:txBody>
      </p:sp>
      <p:sp>
        <p:nvSpPr>
          <p:cNvPr id="34" name="Entity OD_REQUEST"/>
          <p:cNvSpPr/>
          <p:nvPr/>
        </p:nvSpPr>
        <p:spPr>
          <a:xfrm>
            <a:off x="3520440" y="40690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ntity head OD_REQUEST"/>
          <p:cNvSpPr/>
          <p:nvPr/>
        </p:nvSpPr>
        <p:spPr>
          <a:xfrm>
            <a:off x="3520440" y="40690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OD_REQUEST</a:t>
            </a:r>
          </a:p>
        </p:txBody>
      </p:sp>
      <p:sp>
        <p:nvSpPr>
          <p:cNvPr id="36" name="Entity attrs OD_REQUEST"/>
          <p:cNvSpPr txBox="1"/>
          <p:nvPr/>
        </p:nvSpPr>
        <p:spPr>
          <a:xfrm>
            <a:off x="3593592" y="44531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request_id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student_id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type (OD/Leave)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event_name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reason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from_time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to_time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status</a:t>
            </a:r>
          </a:p>
        </p:txBody>
      </p:sp>
      <p:sp>
        <p:nvSpPr>
          <p:cNvPr id="37" name="Entity APPROVAL"/>
          <p:cNvSpPr/>
          <p:nvPr/>
        </p:nvSpPr>
        <p:spPr>
          <a:xfrm>
            <a:off x="6492240" y="40690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ntity head APPROVAL"/>
          <p:cNvSpPr/>
          <p:nvPr/>
        </p:nvSpPr>
        <p:spPr>
          <a:xfrm>
            <a:off x="6492240" y="40690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APPROVAL</a:t>
            </a:r>
          </a:p>
        </p:txBody>
      </p:sp>
      <p:sp>
        <p:nvSpPr>
          <p:cNvPr id="39" name="Entity attrs APPROVAL"/>
          <p:cNvSpPr txBox="1"/>
          <p:nvPr/>
        </p:nvSpPr>
        <p:spPr>
          <a:xfrm>
            <a:off x="6565392" y="44531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approval_id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request_id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faculty_id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decision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remarks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decided_at</a:t>
            </a:r>
          </a:p>
        </p:txBody>
      </p:sp>
      <p:sp>
        <p:nvSpPr>
          <p:cNvPr id="40" name="Entity HOSTEL_EXIT"/>
          <p:cNvSpPr/>
          <p:nvPr/>
        </p:nvSpPr>
        <p:spPr>
          <a:xfrm>
            <a:off x="9464040" y="406908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ntity head HOSTEL_EXIT"/>
          <p:cNvSpPr/>
          <p:nvPr/>
        </p:nvSpPr>
        <p:spPr>
          <a:xfrm>
            <a:off x="9464040" y="4069080"/>
            <a:ext cx="2331720" cy="347472"/>
          </a:xfrm>
          <a:prstGeom prst="roundRect">
            <a:avLst>
              <a:gd name="adj" fmla="val 26315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HOSTEL_EXIT</a:t>
            </a:r>
          </a:p>
        </p:txBody>
      </p:sp>
      <p:sp>
        <p:nvSpPr>
          <p:cNvPr id="42" name="Entity attrs HOSTEL_EXIT"/>
          <p:cNvSpPr txBox="1"/>
          <p:nvPr/>
        </p:nvSpPr>
        <p:spPr>
          <a:xfrm>
            <a:off x="9537192" y="4453128"/>
            <a:ext cx="2185415" cy="1828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"/>
              </a:spcAft>
            </a:pPr>
            <a:r>
              <a:rPr sz="1150" b="1" i="0">
                <a:solidFill>
                  <a:srgbClr val="123336"/>
                </a:solidFill>
                <a:latin typeface="Times New Roman"/>
              </a:rPr>
              <a:t>exit_id  PK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approval_id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request_id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warden_id  FK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out_time / in_time</a:t>
            </a:r>
          </a:p>
          <a:p>
            <a:pPr>
              <a:spcAft>
                <a:spcPts val="1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status</a:t>
            </a:r>
          </a:p>
        </p:txBody>
      </p:sp>
      <p:sp>
        <p:nvSpPr>
          <p:cNvPr id="43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Module Description</a:t>
            </a:r>
          </a:p>
        </p:txBody>
      </p:sp>
      <p:sp>
        <p:nvSpPr>
          <p:cNvPr id="3" name="Module 1. Authentication &amp; Users"/>
          <p:cNvSpPr/>
          <p:nvPr/>
        </p:nvSpPr>
        <p:spPr>
          <a:xfrm>
            <a:off x="640080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dule 1. Authentication &amp; Users title"/>
          <p:cNvSpPr txBox="1"/>
          <p:nvPr/>
        </p:nvSpPr>
        <p:spPr>
          <a:xfrm>
            <a:off x="7498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1. Authentication &amp; Users</a:t>
            </a:r>
          </a:p>
        </p:txBody>
      </p:sp>
      <p:sp>
        <p:nvSpPr>
          <p:cNvPr id="5" name="Module 1. Authentication &amp; Users body"/>
          <p:cNvSpPr txBox="1"/>
          <p:nvPr/>
        </p:nvSpPr>
        <p:spPr>
          <a:xfrm>
            <a:off x="749808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Login / logout with JWT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Role-based access control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Admin manages users and roles</a:t>
            </a:r>
          </a:p>
        </p:txBody>
      </p:sp>
      <p:sp>
        <p:nvSpPr>
          <p:cNvPr id="6" name="Module 2. Student Module"/>
          <p:cNvSpPr/>
          <p:nvPr/>
        </p:nvSpPr>
        <p:spPr>
          <a:xfrm>
            <a:off x="4297680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dule 2. Student Module title"/>
          <p:cNvSpPr txBox="1"/>
          <p:nvPr/>
        </p:nvSpPr>
        <p:spPr>
          <a:xfrm>
            <a:off x="44074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2. Student Module</a:t>
            </a:r>
          </a:p>
        </p:txBody>
      </p:sp>
      <p:sp>
        <p:nvSpPr>
          <p:cNvPr id="8" name="Module 2. Student Module body"/>
          <p:cNvSpPr txBox="1"/>
          <p:nvPr/>
        </p:nvSpPr>
        <p:spPr>
          <a:xfrm>
            <a:off x="4407408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Submit OD / leave with proof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Track status and history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View attendance</a:t>
            </a:r>
          </a:p>
        </p:txBody>
      </p:sp>
      <p:sp>
        <p:nvSpPr>
          <p:cNvPr id="9" name="Module 3. Parent Module"/>
          <p:cNvSpPr/>
          <p:nvPr/>
        </p:nvSpPr>
        <p:spPr>
          <a:xfrm>
            <a:off x="7955279" y="141732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odule 3. Parent Module title"/>
          <p:cNvSpPr txBox="1"/>
          <p:nvPr/>
        </p:nvSpPr>
        <p:spPr>
          <a:xfrm>
            <a:off x="8065007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3. Parent Module</a:t>
            </a:r>
          </a:p>
        </p:txBody>
      </p:sp>
      <p:sp>
        <p:nvSpPr>
          <p:cNvPr id="11" name="Module 3. Parent Module body"/>
          <p:cNvSpPr txBox="1"/>
          <p:nvPr/>
        </p:nvSpPr>
        <p:spPr>
          <a:xfrm>
            <a:off x="8065007" y="201168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Receive reason, event, duration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Acknowledge the request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View request history</a:t>
            </a:r>
          </a:p>
        </p:txBody>
      </p:sp>
      <p:sp>
        <p:nvSpPr>
          <p:cNvPr id="12" name="Module 4. Faculty Module"/>
          <p:cNvSpPr/>
          <p:nvPr/>
        </p:nvSpPr>
        <p:spPr>
          <a:xfrm>
            <a:off x="640080" y="384048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odule 4. Faculty Module title"/>
          <p:cNvSpPr txBox="1"/>
          <p:nvPr/>
        </p:nvSpPr>
        <p:spPr>
          <a:xfrm>
            <a:off x="749808" y="39319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4. Faculty Module</a:t>
            </a:r>
          </a:p>
        </p:txBody>
      </p:sp>
      <p:sp>
        <p:nvSpPr>
          <p:cNvPr id="14" name="Module 4. Faculty Module body"/>
          <p:cNvSpPr txBox="1"/>
          <p:nvPr/>
        </p:nvSpPr>
        <p:spPr>
          <a:xfrm>
            <a:off x="749808" y="443484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Review pending requests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Approve / reject with remarks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Monitor attendance</a:t>
            </a:r>
          </a:p>
        </p:txBody>
      </p:sp>
      <p:sp>
        <p:nvSpPr>
          <p:cNvPr id="15" name="Module 5. Warden / Hostel Module"/>
          <p:cNvSpPr/>
          <p:nvPr/>
        </p:nvSpPr>
        <p:spPr>
          <a:xfrm>
            <a:off x="4297680" y="384048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odule 5. Warden / Hostel Module title"/>
          <p:cNvSpPr txBox="1"/>
          <p:nvPr/>
        </p:nvSpPr>
        <p:spPr>
          <a:xfrm>
            <a:off x="4407408" y="39319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5. Warden / Hostel Module</a:t>
            </a:r>
          </a:p>
        </p:txBody>
      </p:sp>
      <p:sp>
        <p:nvSpPr>
          <p:cNvPr id="17" name="Module 5. Warden / Hostel Module body"/>
          <p:cNvSpPr txBox="1"/>
          <p:nvPr/>
        </p:nvSpPr>
        <p:spPr>
          <a:xfrm>
            <a:off x="4407408" y="443484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Auto list of approved ODs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OD-linked exit status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No duplicate out-pass</a:t>
            </a:r>
          </a:p>
        </p:txBody>
      </p:sp>
      <p:sp>
        <p:nvSpPr>
          <p:cNvPr id="18" name="Module 6. Attendance &amp; Notification"/>
          <p:cNvSpPr/>
          <p:nvPr/>
        </p:nvSpPr>
        <p:spPr>
          <a:xfrm>
            <a:off x="7955279" y="3840480"/>
            <a:ext cx="3474720" cy="2240280"/>
          </a:xfrm>
          <a:prstGeom prst="roundRect">
            <a:avLst>
              <a:gd name="adj" fmla="val 7346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odule 6. Attendance &amp; Notification title"/>
          <p:cNvSpPr txBox="1"/>
          <p:nvPr/>
        </p:nvSpPr>
        <p:spPr>
          <a:xfrm>
            <a:off x="8065007" y="39319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6. Attendance &amp; Notification</a:t>
            </a:r>
          </a:p>
        </p:txBody>
      </p:sp>
      <p:sp>
        <p:nvSpPr>
          <p:cNvPr id="20" name="Module 6. Attendance &amp; Notification body"/>
          <p:cNvSpPr txBox="1"/>
          <p:nvPr/>
        </p:nvSpPr>
        <p:spPr>
          <a:xfrm>
            <a:off x="8065007" y="4434840"/>
            <a:ext cx="3255263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Auto attendance update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Status notifications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History, audit and reports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Technology Stack</a:t>
            </a:r>
          </a:p>
        </p:txBody>
      </p:sp>
      <p:sp>
        <p:nvSpPr>
          <p:cNvPr id="3" name="Tech Frontend"/>
          <p:cNvSpPr/>
          <p:nvPr/>
        </p:nvSpPr>
        <p:spPr>
          <a:xfrm>
            <a:off x="640080" y="141732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ch Frontend title"/>
          <p:cNvSpPr txBox="1"/>
          <p:nvPr/>
        </p:nvSpPr>
        <p:spPr>
          <a:xfrm>
            <a:off x="7498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Frontend</a:t>
            </a:r>
          </a:p>
        </p:txBody>
      </p:sp>
      <p:sp>
        <p:nvSpPr>
          <p:cNvPr id="5" name="Tech Frontend body"/>
          <p:cNvSpPr txBox="1"/>
          <p:nvPr/>
        </p:nvSpPr>
        <p:spPr>
          <a:xfrm>
            <a:off x="749808" y="201168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HTML5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CSS3 / Bootstrap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JavaScript</a:t>
            </a:r>
          </a:p>
        </p:txBody>
      </p:sp>
      <p:sp>
        <p:nvSpPr>
          <p:cNvPr id="6" name="Tech Backend"/>
          <p:cNvSpPr/>
          <p:nvPr/>
        </p:nvSpPr>
        <p:spPr>
          <a:xfrm>
            <a:off x="4297680" y="141732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ch Backend title"/>
          <p:cNvSpPr txBox="1"/>
          <p:nvPr/>
        </p:nvSpPr>
        <p:spPr>
          <a:xfrm>
            <a:off x="4407408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Backend</a:t>
            </a:r>
          </a:p>
        </p:txBody>
      </p:sp>
      <p:sp>
        <p:nvSpPr>
          <p:cNvPr id="8" name="Tech Backend body"/>
          <p:cNvSpPr txBox="1"/>
          <p:nvPr/>
        </p:nvSpPr>
        <p:spPr>
          <a:xfrm>
            <a:off x="4407408" y="201168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Node.js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Express.js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REST APIs</a:t>
            </a:r>
          </a:p>
        </p:txBody>
      </p:sp>
      <p:sp>
        <p:nvSpPr>
          <p:cNvPr id="9" name="Tech Database"/>
          <p:cNvSpPr/>
          <p:nvPr/>
        </p:nvSpPr>
        <p:spPr>
          <a:xfrm>
            <a:off x="7955279" y="141732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ch Database title"/>
          <p:cNvSpPr txBox="1"/>
          <p:nvPr/>
        </p:nvSpPr>
        <p:spPr>
          <a:xfrm>
            <a:off x="8065007" y="150876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Database</a:t>
            </a:r>
          </a:p>
        </p:txBody>
      </p:sp>
      <p:sp>
        <p:nvSpPr>
          <p:cNvPr id="11" name="Tech Database body"/>
          <p:cNvSpPr txBox="1"/>
          <p:nvPr/>
        </p:nvSpPr>
        <p:spPr>
          <a:xfrm>
            <a:off x="8065007" y="201168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MongoDB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Mongoose ODM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Indexed collections</a:t>
            </a:r>
          </a:p>
        </p:txBody>
      </p:sp>
      <p:sp>
        <p:nvSpPr>
          <p:cNvPr id="12" name="Tech Security"/>
          <p:cNvSpPr/>
          <p:nvPr/>
        </p:nvSpPr>
        <p:spPr>
          <a:xfrm>
            <a:off x="640080" y="338328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ch Security title"/>
          <p:cNvSpPr txBox="1"/>
          <p:nvPr/>
        </p:nvSpPr>
        <p:spPr>
          <a:xfrm>
            <a:off x="749808" y="34747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Security</a:t>
            </a:r>
          </a:p>
        </p:txBody>
      </p:sp>
      <p:sp>
        <p:nvSpPr>
          <p:cNvPr id="14" name="Tech Security body"/>
          <p:cNvSpPr txBox="1"/>
          <p:nvPr/>
        </p:nvSpPr>
        <p:spPr>
          <a:xfrm>
            <a:off x="749808" y="397764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JWT authentication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bcrypt password hashing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Role-based middleware</a:t>
            </a:r>
          </a:p>
        </p:txBody>
      </p:sp>
      <p:sp>
        <p:nvSpPr>
          <p:cNvPr id="15" name="Tech Notifications"/>
          <p:cNvSpPr/>
          <p:nvPr/>
        </p:nvSpPr>
        <p:spPr>
          <a:xfrm>
            <a:off x="4297680" y="338328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ch Notifications title"/>
          <p:cNvSpPr txBox="1"/>
          <p:nvPr/>
        </p:nvSpPr>
        <p:spPr>
          <a:xfrm>
            <a:off x="4407408" y="34747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Notifications</a:t>
            </a:r>
          </a:p>
        </p:txBody>
      </p:sp>
      <p:sp>
        <p:nvSpPr>
          <p:cNvPr id="17" name="Tech Notifications body"/>
          <p:cNvSpPr txBox="1"/>
          <p:nvPr/>
        </p:nvSpPr>
        <p:spPr>
          <a:xfrm>
            <a:off x="4407408" y="397764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Email via Nodemailer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In-app status alerts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SMS / push (future)</a:t>
            </a:r>
          </a:p>
        </p:txBody>
      </p:sp>
      <p:sp>
        <p:nvSpPr>
          <p:cNvPr id="18" name="Tech Tools"/>
          <p:cNvSpPr/>
          <p:nvPr/>
        </p:nvSpPr>
        <p:spPr>
          <a:xfrm>
            <a:off x="7955279" y="3383280"/>
            <a:ext cx="3474720" cy="1783080"/>
          </a:xfrm>
          <a:prstGeom prst="roundRect">
            <a:avLst>
              <a:gd name="adj" fmla="val 923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ch Tools title"/>
          <p:cNvSpPr txBox="1"/>
          <p:nvPr/>
        </p:nvSpPr>
        <p:spPr>
          <a:xfrm>
            <a:off x="8065007" y="3474720"/>
            <a:ext cx="3255263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Tools</a:t>
            </a:r>
          </a:p>
        </p:txBody>
      </p:sp>
      <p:sp>
        <p:nvSpPr>
          <p:cNvPr id="20" name="Tech Tools body"/>
          <p:cNvSpPr txBox="1"/>
          <p:nvPr/>
        </p:nvSpPr>
        <p:spPr>
          <a:xfrm>
            <a:off x="8065007" y="3977640"/>
            <a:ext cx="3255263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VS Code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Git / GitHub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Postman for API tests</a:t>
            </a:r>
          </a:p>
        </p:txBody>
      </p:sp>
      <p:sp>
        <p:nvSpPr>
          <p:cNvPr id="21" name="Stack flow Browser"/>
          <p:cNvSpPr/>
          <p:nvPr/>
        </p:nvSpPr>
        <p:spPr>
          <a:xfrm>
            <a:off x="1463040" y="5440680"/>
            <a:ext cx="2377440" cy="640080"/>
          </a:xfrm>
          <a:prstGeom prst="roundRect">
            <a:avLst>
              <a:gd name="adj" fmla="val 11428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Browser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" y="5760720"/>
            <a:ext cx="960120" cy="0"/>
          </a:xfrm>
          <a:prstGeom prst="line">
            <a:avLst/>
          </a:prstGeom>
          <a:ln w="28575">
            <a:solidFill>
              <a:srgbClr val="E6B72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ack flow Express REST API"/>
          <p:cNvSpPr/>
          <p:nvPr/>
        </p:nvSpPr>
        <p:spPr>
          <a:xfrm>
            <a:off x="4892040" y="5440680"/>
            <a:ext cx="2377440" cy="640080"/>
          </a:xfrm>
          <a:prstGeom prst="roundRect">
            <a:avLst>
              <a:gd name="adj" fmla="val 11428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Express REST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5760720"/>
            <a:ext cx="960120" cy="0"/>
          </a:xfrm>
          <a:prstGeom prst="line">
            <a:avLst/>
          </a:prstGeom>
          <a:ln w="28575">
            <a:solidFill>
              <a:srgbClr val="E6B729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ack flow MongoDB"/>
          <p:cNvSpPr/>
          <p:nvPr/>
        </p:nvSpPr>
        <p:spPr>
          <a:xfrm>
            <a:off x="8321040" y="5440680"/>
            <a:ext cx="2377440" cy="640080"/>
          </a:xfrm>
          <a:prstGeom prst="roundRect">
            <a:avLst>
              <a:gd name="adj" fmla="val 11428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23336"/>
                </a:solidFill>
                <a:latin typeface="Times New Roman"/>
              </a:rPr>
              <a:t>MongoDB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UI Design – Login, Dashboard, Request Form</a:t>
            </a:r>
          </a:p>
        </p:txBody>
      </p:sp>
      <p:sp>
        <p:nvSpPr>
          <p:cNvPr id="3" name="Login frame"/>
          <p:cNvSpPr/>
          <p:nvPr/>
        </p:nvSpPr>
        <p:spPr>
          <a:xfrm>
            <a:off x="64008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in bar"/>
          <p:cNvSpPr/>
          <p:nvPr/>
        </p:nvSpPr>
        <p:spPr>
          <a:xfrm>
            <a:off x="64008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in dot 0"/>
          <p:cNvSpPr/>
          <p:nvPr/>
        </p:nvSpPr>
        <p:spPr>
          <a:xfrm>
            <a:off x="74980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in dot 1"/>
          <p:cNvSpPr/>
          <p:nvPr/>
        </p:nvSpPr>
        <p:spPr>
          <a:xfrm>
            <a:off x="90525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in dot 2"/>
          <p:cNvSpPr/>
          <p:nvPr/>
        </p:nvSpPr>
        <p:spPr>
          <a:xfrm>
            <a:off x="106070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in bar title"/>
          <p:cNvSpPr txBox="1"/>
          <p:nvPr/>
        </p:nvSpPr>
        <p:spPr>
          <a:xfrm>
            <a:off x="128016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Login</a:t>
            </a:r>
          </a:p>
        </p:txBody>
      </p:sp>
      <p:sp>
        <p:nvSpPr>
          <p:cNvPr id="9" name="Login logo"/>
          <p:cNvSpPr/>
          <p:nvPr/>
        </p:nvSpPr>
        <p:spPr>
          <a:xfrm>
            <a:off x="2011680" y="1920240"/>
            <a:ext cx="731520" cy="731520"/>
          </a:xfrm>
          <a:prstGeom prst="ellipse">
            <a:avLst/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OD</a:t>
            </a:r>
          </a:p>
        </p:txBody>
      </p:sp>
      <p:sp>
        <p:nvSpPr>
          <p:cNvPr id="10" name="Login user lbl"/>
          <p:cNvSpPr txBox="1"/>
          <p:nvPr/>
        </p:nvSpPr>
        <p:spPr>
          <a:xfrm>
            <a:off x="960119" y="2880360"/>
            <a:ext cx="2834639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Email / Roll number</a:t>
            </a:r>
          </a:p>
        </p:txBody>
      </p:sp>
      <p:sp>
        <p:nvSpPr>
          <p:cNvPr id="11" name="Login user input"/>
          <p:cNvSpPr/>
          <p:nvPr/>
        </p:nvSpPr>
        <p:spPr>
          <a:xfrm>
            <a:off x="960119" y="3090672"/>
            <a:ext cx="2834639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gin pass lbl"/>
          <p:cNvSpPr txBox="1"/>
          <p:nvPr/>
        </p:nvSpPr>
        <p:spPr>
          <a:xfrm>
            <a:off x="960119" y="3520439"/>
            <a:ext cx="2834639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Password</a:t>
            </a:r>
          </a:p>
        </p:txBody>
      </p:sp>
      <p:sp>
        <p:nvSpPr>
          <p:cNvPr id="13" name="Login pass input"/>
          <p:cNvSpPr/>
          <p:nvPr/>
        </p:nvSpPr>
        <p:spPr>
          <a:xfrm>
            <a:off x="960119" y="3730752"/>
            <a:ext cx="2834639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gin role lbl"/>
          <p:cNvSpPr txBox="1"/>
          <p:nvPr/>
        </p:nvSpPr>
        <p:spPr>
          <a:xfrm>
            <a:off x="960119" y="4160520"/>
            <a:ext cx="2834639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Role  ▾</a:t>
            </a:r>
          </a:p>
        </p:txBody>
      </p:sp>
      <p:sp>
        <p:nvSpPr>
          <p:cNvPr id="15" name="Login role input"/>
          <p:cNvSpPr/>
          <p:nvPr/>
        </p:nvSpPr>
        <p:spPr>
          <a:xfrm>
            <a:off x="960119" y="4370832"/>
            <a:ext cx="2834639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gin button"/>
          <p:cNvSpPr/>
          <p:nvPr/>
        </p:nvSpPr>
        <p:spPr>
          <a:xfrm>
            <a:off x="960119" y="4892040"/>
            <a:ext cx="2834639" cy="310896"/>
          </a:xfrm>
          <a:prstGeom prst="roundRect">
            <a:avLst>
              <a:gd name="adj" fmla="val 17647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Login</a:t>
            </a:r>
          </a:p>
        </p:txBody>
      </p:sp>
      <p:sp>
        <p:nvSpPr>
          <p:cNvPr id="17" name="Dash frame"/>
          <p:cNvSpPr/>
          <p:nvPr/>
        </p:nvSpPr>
        <p:spPr>
          <a:xfrm>
            <a:off x="434340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sh bar"/>
          <p:cNvSpPr/>
          <p:nvPr/>
        </p:nvSpPr>
        <p:spPr>
          <a:xfrm>
            <a:off x="434340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sh dot 0"/>
          <p:cNvSpPr/>
          <p:nvPr/>
        </p:nvSpPr>
        <p:spPr>
          <a:xfrm>
            <a:off x="445312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sh dot 1"/>
          <p:cNvSpPr/>
          <p:nvPr/>
        </p:nvSpPr>
        <p:spPr>
          <a:xfrm>
            <a:off x="460857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sh dot 2"/>
          <p:cNvSpPr/>
          <p:nvPr/>
        </p:nvSpPr>
        <p:spPr>
          <a:xfrm>
            <a:off x="476402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sh bar title"/>
          <p:cNvSpPr txBox="1"/>
          <p:nvPr/>
        </p:nvSpPr>
        <p:spPr>
          <a:xfrm>
            <a:off x="498348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Student Dashboard</a:t>
            </a:r>
          </a:p>
        </p:txBody>
      </p:sp>
      <p:sp>
        <p:nvSpPr>
          <p:cNvPr id="23" name="Dash stat Pending"/>
          <p:cNvSpPr/>
          <p:nvPr/>
        </p:nvSpPr>
        <p:spPr>
          <a:xfrm>
            <a:off x="4526280" y="1874519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123336"/>
                </a:solidFill>
                <a:latin typeface="Times New Roman"/>
              </a:rPr>
              <a:t>Pending</a:t>
            </a:r>
          </a:p>
        </p:txBody>
      </p:sp>
      <p:sp>
        <p:nvSpPr>
          <p:cNvPr id="24" name="Dash stat Approved"/>
          <p:cNvSpPr/>
          <p:nvPr/>
        </p:nvSpPr>
        <p:spPr>
          <a:xfrm>
            <a:off x="5577840" y="1874519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123336"/>
                </a:solidFill>
                <a:latin typeface="Times New Roman"/>
              </a:rPr>
              <a:t>Approved</a:t>
            </a:r>
          </a:p>
        </p:txBody>
      </p:sp>
      <p:sp>
        <p:nvSpPr>
          <p:cNvPr id="25" name="Dash stat Rejected"/>
          <p:cNvSpPr/>
          <p:nvPr/>
        </p:nvSpPr>
        <p:spPr>
          <a:xfrm>
            <a:off x="6629400" y="1874519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B015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123336"/>
                </a:solidFill>
                <a:latin typeface="Times New Roman"/>
              </a:rPr>
              <a:t>Rejected</a:t>
            </a:r>
          </a:p>
        </p:txBody>
      </p:sp>
      <p:sp>
        <p:nvSpPr>
          <p:cNvPr id="26" name="Dash table head"/>
          <p:cNvSpPr/>
          <p:nvPr/>
        </p:nvSpPr>
        <p:spPr>
          <a:xfrm>
            <a:off x="4526280" y="2697480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23336"/>
                </a:solidFill>
                <a:latin typeface="Times New Roman"/>
              </a:rPr>
              <a:t>Event / Date / Status</a:t>
            </a:r>
          </a:p>
        </p:txBody>
      </p:sp>
      <p:sp>
        <p:nvSpPr>
          <p:cNvPr id="27" name="Dash row 0"/>
          <p:cNvSpPr/>
          <p:nvPr/>
        </p:nvSpPr>
        <p:spPr>
          <a:xfrm>
            <a:off x="4526280" y="3063240"/>
            <a:ext cx="3108960" cy="347472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sh row text 0"/>
          <p:cNvSpPr txBox="1"/>
          <p:nvPr/>
        </p:nvSpPr>
        <p:spPr>
          <a:xfrm>
            <a:off x="4617720" y="3099816"/>
            <a:ext cx="155448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0" i="0">
                <a:solidFill>
                  <a:srgbClr val="123336"/>
                </a:solidFill>
                <a:latin typeface="Times New Roman"/>
              </a:rPr>
              <a:t>Hackathon</a:t>
            </a:r>
          </a:p>
        </p:txBody>
      </p:sp>
      <p:sp>
        <p:nvSpPr>
          <p:cNvPr id="29" name="Dash chip 0"/>
          <p:cNvSpPr/>
          <p:nvPr/>
        </p:nvSpPr>
        <p:spPr>
          <a:xfrm>
            <a:off x="6583680" y="3118104"/>
            <a:ext cx="960120" cy="237744"/>
          </a:xfrm>
          <a:prstGeom prst="roundRect">
            <a:avLst>
              <a:gd name="adj" fmla="val 46153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Approved</a:t>
            </a:r>
          </a:p>
        </p:txBody>
      </p:sp>
      <p:sp>
        <p:nvSpPr>
          <p:cNvPr id="30" name="Dash row 1"/>
          <p:cNvSpPr/>
          <p:nvPr/>
        </p:nvSpPr>
        <p:spPr>
          <a:xfrm>
            <a:off x="4526280" y="3474720"/>
            <a:ext cx="3108960" cy="347472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sh row text 1"/>
          <p:cNvSpPr txBox="1"/>
          <p:nvPr/>
        </p:nvSpPr>
        <p:spPr>
          <a:xfrm>
            <a:off x="4617720" y="3511296"/>
            <a:ext cx="155448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0" i="0">
                <a:solidFill>
                  <a:srgbClr val="123336"/>
                </a:solidFill>
                <a:latin typeface="Times New Roman"/>
              </a:rPr>
              <a:t>Medical leave</a:t>
            </a:r>
          </a:p>
        </p:txBody>
      </p:sp>
      <p:sp>
        <p:nvSpPr>
          <p:cNvPr id="32" name="Dash chip 1"/>
          <p:cNvSpPr/>
          <p:nvPr/>
        </p:nvSpPr>
        <p:spPr>
          <a:xfrm>
            <a:off x="6583680" y="3529584"/>
            <a:ext cx="960120" cy="237744"/>
          </a:xfrm>
          <a:prstGeom prst="roundRect">
            <a:avLst>
              <a:gd name="adj" fmla="val 46153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Pending</a:t>
            </a:r>
          </a:p>
        </p:txBody>
      </p:sp>
      <p:sp>
        <p:nvSpPr>
          <p:cNvPr id="33" name="Dash row 2"/>
          <p:cNvSpPr/>
          <p:nvPr/>
        </p:nvSpPr>
        <p:spPr>
          <a:xfrm>
            <a:off x="4526280" y="3886200"/>
            <a:ext cx="3108960" cy="347472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sh row text 2"/>
          <p:cNvSpPr txBox="1"/>
          <p:nvPr/>
        </p:nvSpPr>
        <p:spPr>
          <a:xfrm>
            <a:off x="4617720" y="3922776"/>
            <a:ext cx="155448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0" i="0">
                <a:solidFill>
                  <a:srgbClr val="123336"/>
                </a:solidFill>
                <a:latin typeface="Times New Roman"/>
              </a:rPr>
              <a:t>Symposium</a:t>
            </a:r>
          </a:p>
        </p:txBody>
      </p:sp>
      <p:sp>
        <p:nvSpPr>
          <p:cNvPr id="35" name="Dash chip 2"/>
          <p:cNvSpPr/>
          <p:nvPr/>
        </p:nvSpPr>
        <p:spPr>
          <a:xfrm>
            <a:off x="6583680" y="3941063"/>
            <a:ext cx="960120" cy="237744"/>
          </a:xfrm>
          <a:prstGeom prst="roundRect">
            <a:avLst>
              <a:gd name="adj" fmla="val 46153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Approved</a:t>
            </a:r>
          </a:p>
        </p:txBody>
      </p:sp>
      <p:sp>
        <p:nvSpPr>
          <p:cNvPr id="36" name="Dash row 3"/>
          <p:cNvSpPr/>
          <p:nvPr/>
        </p:nvSpPr>
        <p:spPr>
          <a:xfrm>
            <a:off x="4526280" y="4297680"/>
            <a:ext cx="3108960" cy="347472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sh row text 3"/>
          <p:cNvSpPr txBox="1"/>
          <p:nvPr/>
        </p:nvSpPr>
        <p:spPr>
          <a:xfrm>
            <a:off x="4617720" y="4334256"/>
            <a:ext cx="155448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0" i="0">
                <a:solidFill>
                  <a:srgbClr val="123336"/>
                </a:solidFill>
                <a:latin typeface="Times New Roman"/>
              </a:rPr>
              <a:t>Family event</a:t>
            </a:r>
          </a:p>
        </p:txBody>
      </p:sp>
      <p:sp>
        <p:nvSpPr>
          <p:cNvPr id="38" name="Dash chip 3"/>
          <p:cNvSpPr/>
          <p:nvPr/>
        </p:nvSpPr>
        <p:spPr>
          <a:xfrm>
            <a:off x="6583680" y="4352544"/>
            <a:ext cx="960120" cy="237744"/>
          </a:xfrm>
          <a:prstGeom prst="roundRect">
            <a:avLst>
              <a:gd name="adj" fmla="val 46153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Rejected</a:t>
            </a:r>
          </a:p>
        </p:txBody>
      </p:sp>
      <p:sp>
        <p:nvSpPr>
          <p:cNvPr id="39" name="Dash new button"/>
          <p:cNvSpPr/>
          <p:nvPr/>
        </p:nvSpPr>
        <p:spPr>
          <a:xfrm>
            <a:off x="4526280" y="4892040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+ New OD / Leave Request</a:t>
            </a:r>
          </a:p>
        </p:txBody>
      </p:sp>
      <p:sp>
        <p:nvSpPr>
          <p:cNvPr id="40" name="Form frame"/>
          <p:cNvSpPr/>
          <p:nvPr/>
        </p:nvSpPr>
        <p:spPr>
          <a:xfrm>
            <a:off x="804672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orm bar"/>
          <p:cNvSpPr/>
          <p:nvPr/>
        </p:nvSpPr>
        <p:spPr>
          <a:xfrm>
            <a:off x="804672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orm dot 0"/>
          <p:cNvSpPr/>
          <p:nvPr/>
        </p:nvSpPr>
        <p:spPr>
          <a:xfrm>
            <a:off x="815644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orm dot 1"/>
          <p:cNvSpPr/>
          <p:nvPr/>
        </p:nvSpPr>
        <p:spPr>
          <a:xfrm>
            <a:off x="831189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orm dot 2"/>
          <p:cNvSpPr/>
          <p:nvPr/>
        </p:nvSpPr>
        <p:spPr>
          <a:xfrm>
            <a:off x="846734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orm bar title"/>
          <p:cNvSpPr txBox="1"/>
          <p:nvPr/>
        </p:nvSpPr>
        <p:spPr>
          <a:xfrm>
            <a:off x="868680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New OD / Leave Request</a:t>
            </a:r>
          </a:p>
        </p:txBody>
      </p:sp>
      <p:sp>
        <p:nvSpPr>
          <p:cNvPr id="46" name="Form type lbl"/>
          <p:cNvSpPr txBox="1"/>
          <p:nvPr/>
        </p:nvSpPr>
        <p:spPr>
          <a:xfrm>
            <a:off x="8275320" y="1828800"/>
            <a:ext cx="146304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Type  ▾</a:t>
            </a:r>
          </a:p>
        </p:txBody>
      </p:sp>
      <p:sp>
        <p:nvSpPr>
          <p:cNvPr id="47" name="Form type input"/>
          <p:cNvSpPr/>
          <p:nvPr/>
        </p:nvSpPr>
        <p:spPr>
          <a:xfrm>
            <a:off x="8275320" y="2039112"/>
            <a:ext cx="146304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orm event lbl"/>
          <p:cNvSpPr txBox="1"/>
          <p:nvPr/>
        </p:nvSpPr>
        <p:spPr>
          <a:xfrm>
            <a:off x="9829800" y="1828800"/>
            <a:ext cx="146304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Event name</a:t>
            </a:r>
          </a:p>
        </p:txBody>
      </p:sp>
      <p:sp>
        <p:nvSpPr>
          <p:cNvPr id="49" name="Form event input"/>
          <p:cNvSpPr/>
          <p:nvPr/>
        </p:nvSpPr>
        <p:spPr>
          <a:xfrm>
            <a:off x="9829800" y="2039112"/>
            <a:ext cx="146304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orm reason lbl"/>
          <p:cNvSpPr txBox="1"/>
          <p:nvPr/>
        </p:nvSpPr>
        <p:spPr>
          <a:xfrm>
            <a:off x="8275320" y="2423160"/>
            <a:ext cx="301752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Reason</a:t>
            </a:r>
          </a:p>
        </p:txBody>
      </p:sp>
      <p:sp>
        <p:nvSpPr>
          <p:cNvPr id="51" name="Form reason input"/>
          <p:cNvSpPr/>
          <p:nvPr/>
        </p:nvSpPr>
        <p:spPr>
          <a:xfrm>
            <a:off x="8275320" y="2633472"/>
            <a:ext cx="30175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orm from lbl"/>
          <p:cNvSpPr txBox="1"/>
          <p:nvPr/>
        </p:nvSpPr>
        <p:spPr>
          <a:xfrm>
            <a:off x="8275320" y="3017520"/>
            <a:ext cx="146304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From</a:t>
            </a:r>
          </a:p>
        </p:txBody>
      </p:sp>
      <p:sp>
        <p:nvSpPr>
          <p:cNvPr id="53" name="Form from input"/>
          <p:cNvSpPr/>
          <p:nvPr/>
        </p:nvSpPr>
        <p:spPr>
          <a:xfrm>
            <a:off x="8275320" y="3227832"/>
            <a:ext cx="146304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orm to lbl"/>
          <p:cNvSpPr txBox="1"/>
          <p:nvPr/>
        </p:nvSpPr>
        <p:spPr>
          <a:xfrm>
            <a:off x="9829800" y="3017520"/>
            <a:ext cx="146304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To</a:t>
            </a:r>
          </a:p>
        </p:txBody>
      </p:sp>
      <p:sp>
        <p:nvSpPr>
          <p:cNvPr id="55" name="Form to input"/>
          <p:cNvSpPr/>
          <p:nvPr/>
        </p:nvSpPr>
        <p:spPr>
          <a:xfrm>
            <a:off x="9829800" y="3227832"/>
            <a:ext cx="146304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orm loc lbl"/>
          <p:cNvSpPr txBox="1"/>
          <p:nvPr/>
        </p:nvSpPr>
        <p:spPr>
          <a:xfrm>
            <a:off x="8275320" y="3611880"/>
            <a:ext cx="301752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Location</a:t>
            </a:r>
          </a:p>
        </p:txBody>
      </p:sp>
      <p:sp>
        <p:nvSpPr>
          <p:cNvPr id="57" name="Form loc input"/>
          <p:cNvSpPr/>
          <p:nvPr/>
        </p:nvSpPr>
        <p:spPr>
          <a:xfrm>
            <a:off x="8275320" y="3822192"/>
            <a:ext cx="3017520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orm upload"/>
          <p:cNvSpPr/>
          <p:nvPr/>
        </p:nvSpPr>
        <p:spPr>
          <a:xfrm>
            <a:off x="8275320" y="4251960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6B8284"/>
                </a:solidFill>
                <a:latin typeface="Times New Roman"/>
              </a:rPr>
              <a:t>⬆  Upload proof (PDF / image)</a:t>
            </a:r>
          </a:p>
        </p:txBody>
      </p:sp>
      <p:sp>
        <p:nvSpPr>
          <p:cNvPr id="59" name="Form submit"/>
          <p:cNvSpPr/>
          <p:nvPr/>
        </p:nvSpPr>
        <p:spPr>
          <a:xfrm>
            <a:off x="8275320" y="489204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Submit Request</a:t>
            </a:r>
          </a:p>
        </p:txBody>
      </p:sp>
      <p:sp>
        <p:nvSpPr>
          <p:cNvPr id="60" name="Caption Login"/>
          <p:cNvSpPr txBox="1"/>
          <p:nvPr/>
        </p:nvSpPr>
        <p:spPr>
          <a:xfrm>
            <a:off x="64008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Login</a:t>
            </a:r>
          </a:p>
        </p:txBody>
      </p:sp>
      <p:sp>
        <p:nvSpPr>
          <p:cNvPr id="61" name="Caption Student dashboard"/>
          <p:cNvSpPr txBox="1"/>
          <p:nvPr/>
        </p:nvSpPr>
        <p:spPr>
          <a:xfrm>
            <a:off x="434340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Student dashboard</a:t>
            </a:r>
          </a:p>
        </p:txBody>
      </p:sp>
      <p:sp>
        <p:nvSpPr>
          <p:cNvPr id="62" name="Caption OD / leave request form"/>
          <p:cNvSpPr txBox="1"/>
          <p:nvPr/>
        </p:nvSpPr>
        <p:spPr>
          <a:xfrm>
            <a:off x="804672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OD / leave request form</a:t>
            </a:r>
          </a:p>
        </p:txBody>
      </p:sp>
      <p:sp>
        <p:nvSpPr>
          <p:cNvPr id="63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UI Design – Parent, Faculty, Warden Views</a:t>
            </a:r>
          </a:p>
        </p:txBody>
      </p:sp>
      <p:sp>
        <p:nvSpPr>
          <p:cNvPr id="3" name="Parent frame"/>
          <p:cNvSpPr/>
          <p:nvPr/>
        </p:nvSpPr>
        <p:spPr>
          <a:xfrm>
            <a:off x="64008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ent bar"/>
          <p:cNvSpPr/>
          <p:nvPr/>
        </p:nvSpPr>
        <p:spPr>
          <a:xfrm>
            <a:off x="64008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ent dot 0"/>
          <p:cNvSpPr/>
          <p:nvPr/>
        </p:nvSpPr>
        <p:spPr>
          <a:xfrm>
            <a:off x="74980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ent dot 1"/>
          <p:cNvSpPr/>
          <p:nvPr/>
        </p:nvSpPr>
        <p:spPr>
          <a:xfrm>
            <a:off x="90525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ent dot 2"/>
          <p:cNvSpPr/>
          <p:nvPr/>
        </p:nvSpPr>
        <p:spPr>
          <a:xfrm>
            <a:off x="106070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ent bar title"/>
          <p:cNvSpPr txBox="1"/>
          <p:nvPr/>
        </p:nvSpPr>
        <p:spPr>
          <a:xfrm>
            <a:off x="128016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Parent – Request Notice</a:t>
            </a:r>
          </a:p>
        </p:txBody>
      </p:sp>
      <p:sp>
        <p:nvSpPr>
          <p:cNvPr id="9" name="Parent card"/>
          <p:cNvSpPr/>
          <p:nvPr/>
        </p:nvSpPr>
        <p:spPr>
          <a:xfrm>
            <a:off x="822959" y="1874519"/>
            <a:ext cx="31089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ent card text"/>
          <p:cNvSpPr txBox="1"/>
          <p:nvPr/>
        </p:nvSpPr>
        <p:spPr>
          <a:xfrm>
            <a:off x="914400" y="1920240"/>
            <a:ext cx="2926079" cy="237744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123336"/>
                </a:solidFill>
                <a:latin typeface="Times New Roman"/>
              </a:rPr>
              <a:t>Your ward has applied for OD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Event:  Hackathon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Reason:  Inter-college event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23336"/>
                </a:solidFill>
                <a:latin typeface="Times New Roman"/>
              </a:rPr>
              <a:t>Duration:  24 hours</a:t>
            </a:r>
          </a:p>
          <a:p>
            <a:r>
              <a:rPr sz="1150" b="0" i="0">
                <a:solidFill>
                  <a:srgbClr val="123336"/>
                </a:solidFill>
                <a:latin typeface="Times New Roman"/>
              </a:rPr>
              <a:t>Status:  Awaiting faculty</a:t>
            </a:r>
          </a:p>
        </p:txBody>
      </p:sp>
      <p:sp>
        <p:nvSpPr>
          <p:cNvPr id="11" name="Parent ack"/>
          <p:cNvSpPr/>
          <p:nvPr/>
        </p:nvSpPr>
        <p:spPr>
          <a:xfrm>
            <a:off x="822959" y="45720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Acknowledge</a:t>
            </a:r>
          </a:p>
        </p:txBody>
      </p:sp>
      <p:sp>
        <p:nvSpPr>
          <p:cNvPr id="12" name="Parent contact"/>
          <p:cNvSpPr/>
          <p:nvPr/>
        </p:nvSpPr>
        <p:spPr>
          <a:xfrm>
            <a:off x="2468879" y="457200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Contact</a:t>
            </a:r>
          </a:p>
        </p:txBody>
      </p:sp>
      <p:sp>
        <p:nvSpPr>
          <p:cNvPr id="13" name="Faculty frame"/>
          <p:cNvSpPr/>
          <p:nvPr/>
        </p:nvSpPr>
        <p:spPr>
          <a:xfrm>
            <a:off x="434340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aculty bar"/>
          <p:cNvSpPr/>
          <p:nvPr/>
        </p:nvSpPr>
        <p:spPr>
          <a:xfrm>
            <a:off x="434340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aculty dot 0"/>
          <p:cNvSpPr/>
          <p:nvPr/>
        </p:nvSpPr>
        <p:spPr>
          <a:xfrm>
            <a:off x="445312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aculty dot 1"/>
          <p:cNvSpPr/>
          <p:nvPr/>
        </p:nvSpPr>
        <p:spPr>
          <a:xfrm>
            <a:off x="460857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aculty dot 2"/>
          <p:cNvSpPr/>
          <p:nvPr/>
        </p:nvSpPr>
        <p:spPr>
          <a:xfrm>
            <a:off x="476402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culty bar title"/>
          <p:cNvSpPr txBox="1"/>
          <p:nvPr/>
        </p:nvSpPr>
        <p:spPr>
          <a:xfrm>
            <a:off x="498348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Faculty – Pending Requests</a:t>
            </a:r>
          </a:p>
        </p:txBody>
      </p:sp>
      <p:sp>
        <p:nvSpPr>
          <p:cNvPr id="19" name="Faculty card 0"/>
          <p:cNvSpPr/>
          <p:nvPr/>
        </p:nvSpPr>
        <p:spPr>
          <a:xfrm>
            <a:off x="4526280" y="1874519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aculty card text 0"/>
          <p:cNvSpPr txBox="1"/>
          <p:nvPr/>
        </p:nvSpPr>
        <p:spPr>
          <a:xfrm>
            <a:off x="4617720" y="1920239"/>
            <a:ext cx="1828800" cy="5029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200" b="1" i="0">
                <a:solidFill>
                  <a:srgbClr val="123336"/>
                </a:solidFill>
                <a:latin typeface="Times New Roman"/>
              </a:rPr>
              <a:t>Student A</a:t>
            </a:r>
          </a:p>
          <a:p>
            <a:r>
              <a:rPr sz="1100" b="0" i="0">
                <a:solidFill>
                  <a:srgbClr val="6B8284"/>
                </a:solidFill>
                <a:latin typeface="Times New Roman"/>
              </a:rPr>
              <a:t>Hackathon</a:t>
            </a:r>
          </a:p>
        </p:txBody>
      </p:sp>
      <p:sp>
        <p:nvSpPr>
          <p:cNvPr id="21" name="Faculty approve 0"/>
          <p:cNvSpPr/>
          <p:nvPr/>
        </p:nvSpPr>
        <p:spPr>
          <a:xfrm>
            <a:off x="4617720" y="249631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Approve</a:t>
            </a:r>
          </a:p>
        </p:txBody>
      </p:sp>
      <p:sp>
        <p:nvSpPr>
          <p:cNvPr id="22" name="Faculty reject 0"/>
          <p:cNvSpPr/>
          <p:nvPr/>
        </p:nvSpPr>
        <p:spPr>
          <a:xfrm>
            <a:off x="5760720" y="249631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Reject</a:t>
            </a:r>
          </a:p>
        </p:txBody>
      </p:sp>
      <p:sp>
        <p:nvSpPr>
          <p:cNvPr id="23" name="Faculty card 1"/>
          <p:cNvSpPr/>
          <p:nvPr/>
        </p:nvSpPr>
        <p:spPr>
          <a:xfrm>
            <a:off x="4526280" y="301752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aculty card text 1"/>
          <p:cNvSpPr txBox="1"/>
          <p:nvPr/>
        </p:nvSpPr>
        <p:spPr>
          <a:xfrm>
            <a:off x="4617720" y="3063239"/>
            <a:ext cx="1828800" cy="5029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200" b="1" i="0">
                <a:solidFill>
                  <a:srgbClr val="123336"/>
                </a:solidFill>
                <a:latin typeface="Times New Roman"/>
              </a:rPr>
              <a:t>Student B</a:t>
            </a:r>
          </a:p>
          <a:p>
            <a:r>
              <a:rPr sz="1100" b="0" i="0">
                <a:solidFill>
                  <a:srgbClr val="6B8284"/>
                </a:solidFill>
                <a:latin typeface="Times New Roman"/>
              </a:rPr>
              <a:t>Medical leave</a:t>
            </a:r>
          </a:p>
        </p:txBody>
      </p:sp>
      <p:sp>
        <p:nvSpPr>
          <p:cNvPr id="25" name="Faculty approve 1"/>
          <p:cNvSpPr/>
          <p:nvPr/>
        </p:nvSpPr>
        <p:spPr>
          <a:xfrm>
            <a:off x="4617720" y="363931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Approve</a:t>
            </a:r>
          </a:p>
        </p:txBody>
      </p:sp>
      <p:sp>
        <p:nvSpPr>
          <p:cNvPr id="26" name="Faculty reject 1"/>
          <p:cNvSpPr/>
          <p:nvPr/>
        </p:nvSpPr>
        <p:spPr>
          <a:xfrm>
            <a:off x="5760720" y="363931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Reject</a:t>
            </a:r>
          </a:p>
        </p:txBody>
      </p:sp>
      <p:sp>
        <p:nvSpPr>
          <p:cNvPr id="27" name="Faculty remarks lbl"/>
          <p:cNvSpPr txBox="1"/>
          <p:nvPr/>
        </p:nvSpPr>
        <p:spPr>
          <a:xfrm>
            <a:off x="4526280" y="4251960"/>
            <a:ext cx="3108960" cy="201168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Remarks</a:t>
            </a:r>
          </a:p>
        </p:txBody>
      </p:sp>
      <p:sp>
        <p:nvSpPr>
          <p:cNvPr id="28" name="Faculty remarks input"/>
          <p:cNvSpPr/>
          <p:nvPr/>
        </p:nvSpPr>
        <p:spPr>
          <a:xfrm>
            <a:off x="4526280" y="446227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ulty submit"/>
          <p:cNvSpPr/>
          <p:nvPr/>
        </p:nvSpPr>
        <p:spPr>
          <a:xfrm>
            <a:off x="4526280" y="4983480"/>
            <a:ext cx="3108960" cy="320040"/>
          </a:xfrm>
          <a:prstGeom prst="roundRect">
            <a:avLst>
              <a:gd name="adj" fmla="val 17142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</a:rPr>
              <a:t>Submit decision</a:t>
            </a:r>
          </a:p>
        </p:txBody>
      </p:sp>
      <p:sp>
        <p:nvSpPr>
          <p:cNvPr id="30" name="Warden frame"/>
          <p:cNvSpPr/>
          <p:nvPr/>
        </p:nvSpPr>
        <p:spPr>
          <a:xfrm>
            <a:off x="8046720" y="1417320"/>
            <a:ext cx="3474720" cy="4251960"/>
          </a:xfrm>
          <a:prstGeom prst="roundRect">
            <a:avLst>
              <a:gd name="adj" fmla="val 2631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Warden bar"/>
          <p:cNvSpPr/>
          <p:nvPr/>
        </p:nvSpPr>
        <p:spPr>
          <a:xfrm>
            <a:off x="8046720" y="1417320"/>
            <a:ext cx="3474720" cy="310896"/>
          </a:xfrm>
          <a:prstGeom prst="roundRect">
            <a:avLst>
              <a:gd name="adj" fmla="val 29411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arden dot 0"/>
          <p:cNvSpPr/>
          <p:nvPr/>
        </p:nvSpPr>
        <p:spPr>
          <a:xfrm>
            <a:off x="8156448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arden dot 1"/>
          <p:cNvSpPr/>
          <p:nvPr/>
        </p:nvSpPr>
        <p:spPr>
          <a:xfrm>
            <a:off x="8311896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arden dot 2"/>
          <p:cNvSpPr/>
          <p:nvPr/>
        </p:nvSpPr>
        <p:spPr>
          <a:xfrm>
            <a:off x="8467344" y="1517904"/>
            <a:ext cx="91440" cy="91440"/>
          </a:xfrm>
          <a:prstGeom prst="ellipse">
            <a:avLst/>
          </a:prstGeom>
          <a:solidFill>
            <a:srgbClr val="6B8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arden bar title"/>
          <p:cNvSpPr txBox="1"/>
          <p:nvPr/>
        </p:nvSpPr>
        <p:spPr>
          <a:xfrm>
            <a:off x="8686800" y="1435608"/>
            <a:ext cx="27432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00" b="1" i="0">
                <a:solidFill>
                  <a:srgbClr val="123336"/>
                </a:solidFill>
                <a:latin typeface="Times New Roman"/>
              </a:rPr>
              <a:t>Warden – Hostel OD List</a:t>
            </a:r>
          </a:p>
        </p:txBody>
      </p:sp>
      <p:sp>
        <p:nvSpPr>
          <p:cNvPr id="36" name="Warden head"/>
          <p:cNvSpPr/>
          <p:nvPr/>
        </p:nvSpPr>
        <p:spPr>
          <a:xfrm>
            <a:off x="8229600" y="1874519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C9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23336"/>
                </a:solidFill>
                <a:latin typeface="Times New Roman"/>
              </a:rPr>
              <a:t>Student  /  Out – In  /  Exit</a:t>
            </a:r>
          </a:p>
        </p:txBody>
      </p:sp>
      <p:sp>
        <p:nvSpPr>
          <p:cNvPr id="37" name="Warden row 0"/>
          <p:cNvSpPr/>
          <p:nvPr/>
        </p:nvSpPr>
        <p:spPr>
          <a:xfrm>
            <a:off x="8229600" y="2240280"/>
            <a:ext cx="3108960" cy="49377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Warden row text 0"/>
          <p:cNvSpPr txBox="1"/>
          <p:nvPr/>
        </p:nvSpPr>
        <p:spPr>
          <a:xfrm>
            <a:off x="8321040" y="2276856"/>
            <a:ext cx="1828800" cy="438912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50" b="1" i="0">
                <a:solidFill>
                  <a:srgbClr val="123336"/>
                </a:solidFill>
                <a:latin typeface="Times New Roman"/>
              </a:rPr>
              <a:t>Student A</a:t>
            </a:r>
          </a:p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10 AM – 10 AM</a:t>
            </a:r>
          </a:p>
        </p:txBody>
      </p:sp>
      <p:sp>
        <p:nvSpPr>
          <p:cNvPr id="39" name="Warden chip 0"/>
          <p:cNvSpPr/>
          <p:nvPr/>
        </p:nvSpPr>
        <p:spPr>
          <a:xfrm>
            <a:off x="10378440" y="2368296"/>
            <a:ext cx="868680" cy="237744"/>
          </a:xfrm>
          <a:prstGeom prst="roundRect">
            <a:avLst>
              <a:gd name="adj" fmla="val 46153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Linked</a:t>
            </a:r>
          </a:p>
        </p:txBody>
      </p:sp>
      <p:sp>
        <p:nvSpPr>
          <p:cNvPr id="40" name="Warden row 1"/>
          <p:cNvSpPr/>
          <p:nvPr/>
        </p:nvSpPr>
        <p:spPr>
          <a:xfrm>
            <a:off x="8229600" y="2807208"/>
            <a:ext cx="3108960" cy="49377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Warden row text 1"/>
          <p:cNvSpPr txBox="1"/>
          <p:nvPr/>
        </p:nvSpPr>
        <p:spPr>
          <a:xfrm>
            <a:off x="8321040" y="2843784"/>
            <a:ext cx="1828800" cy="438912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50" b="1" i="0">
                <a:solidFill>
                  <a:srgbClr val="123336"/>
                </a:solidFill>
                <a:latin typeface="Times New Roman"/>
              </a:rPr>
              <a:t>Student C</a:t>
            </a:r>
          </a:p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2 PM – 9 PM</a:t>
            </a:r>
          </a:p>
        </p:txBody>
      </p:sp>
      <p:sp>
        <p:nvSpPr>
          <p:cNvPr id="42" name="Warden chip 1"/>
          <p:cNvSpPr/>
          <p:nvPr/>
        </p:nvSpPr>
        <p:spPr>
          <a:xfrm>
            <a:off x="10378440" y="2935224"/>
            <a:ext cx="868680" cy="237744"/>
          </a:xfrm>
          <a:prstGeom prst="roundRect">
            <a:avLst>
              <a:gd name="adj" fmla="val 46153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Linked</a:t>
            </a:r>
          </a:p>
        </p:txBody>
      </p:sp>
      <p:sp>
        <p:nvSpPr>
          <p:cNvPr id="43" name="Warden row 2"/>
          <p:cNvSpPr/>
          <p:nvPr/>
        </p:nvSpPr>
        <p:spPr>
          <a:xfrm>
            <a:off x="8229600" y="3374136"/>
            <a:ext cx="3108960" cy="49377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Warden row text 2"/>
          <p:cNvSpPr txBox="1"/>
          <p:nvPr/>
        </p:nvSpPr>
        <p:spPr>
          <a:xfrm>
            <a:off x="8321040" y="3410712"/>
            <a:ext cx="1828800" cy="438912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50" b="1" i="0">
                <a:solidFill>
                  <a:srgbClr val="123336"/>
                </a:solidFill>
                <a:latin typeface="Times New Roman"/>
              </a:rPr>
              <a:t>Student D</a:t>
            </a:r>
          </a:p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9 AM – 5 PM</a:t>
            </a:r>
          </a:p>
        </p:txBody>
      </p:sp>
      <p:sp>
        <p:nvSpPr>
          <p:cNvPr id="45" name="Warden chip 2"/>
          <p:cNvSpPr/>
          <p:nvPr/>
        </p:nvSpPr>
        <p:spPr>
          <a:xfrm>
            <a:off x="10378440" y="3502152"/>
            <a:ext cx="868680" cy="237744"/>
          </a:xfrm>
          <a:prstGeom prst="roundRect">
            <a:avLst>
              <a:gd name="adj" fmla="val 46153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Pending</a:t>
            </a:r>
          </a:p>
        </p:txBody>
      </p:sp>
      <p:sp>
        <p:nvSpPr>
          <p:cNvPr id="46" name="Warden row 3"/>
          <p:cNvSpPr/>
          <p:nvPr/>
        </p:nvSpPr>
        <p:spPr>
          <a:xfrm>
            <a:off x="8229600" y="3941064"/>
            <a:ext cx="3108960" cy="49377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arden row text 3"/>
          <p:cNvSpPr txBox="1"/>
          <p:nvPr/>
        </p:nvSpPr>
        <p:spPr>
          <a:xfrm>
            <a:off x="8321040" y="3977640"/>
            <a:ext cx="1828800" cy="438912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r>
              <a:rPr sz="1150" b="1" i="0">
                <a:solidFill>
                  <a:srgbClr val="123336"/>
                </a:solidFill>
                <a:latin typeface="Times New Roman"/>
              </a:rPr>
              <a:t>Student E</a:t>
            </a:r>
          </a:p>
          <a:p>
            <a:r>
              <a:rPr sz="1050" b="0" i="0">
                <a:solidFill>
                  <a:srgbClr val="6B8284"/>
                </a:solidFill>
                <a:latin typeface="Times New Roman"/>
              </a:rPr>
              <a:t>6 AM – 8 PM</a:t>
            </a:r>
          </a:p>
        </p:txBody>
      </p:sp>
      <p:sp>
        <p:nvSpPr>
          <p:cNvPr id="48" name="Warden chip 3"/>
          <p:cNvSpPr/>
          <p:nvPr/>
        </p:nvSpPr>
        <p:spPr>
          <a:xfrm>
            <a:off x="10378440" y="4069080"/>
            <a:ext cx="868680" cy="237744"/>
          </a:xfrm>
          <a:prstGeom prst="roundRect">
            <a:avLst>
              <a:gd name="adj" fmla="val 46153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Linked</a:t>
            </a:r>
          </a:p>
        </p:txBody>
      </p:sp>
      <p:sp>
        <p:nvSpPr>
          <p:cNvPr id="49" name="Warden note"/>
          <p:cNvSpPr txBox="1"/>
          <p:nvPr/>
        </p:nvSpPr>
        <p:spPr>
          <a:xfrm>
            <a:off x="8229600" y="4617720"/>
            <a:ext cx="3108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00" b="0" i="1">
                <a:solidFill>
                  <a:srgbClr val="6B8284"/>
                </a:solidFill>
                <a:latin typeface="Times New Roman"/>
              </a:rPr>
              <a:t>Approved hostel ODs act as the exit permission – no second out-pass form.</a:t>
            </a:r>
          </a:p>
        </p:txBody>
      </p:sp>
      <p:sp>
        <p:nvSpPr>
          <p:cNvPr id="50" name="Caption Parent view"/>
          <p:cNvSpPr txBox="1"/>
          <p:nvPr/>
        </p:nvSpPr>
        <p:spPr>
          <a:xfrm>
            <a:off x="64008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Parent view</a:t>
            </a:r>
          </a:p>
        </p:txBody>
      </p:sp>
      <p:sp>
        <p:nvSpPr>
          <p:cNvPr id="51" name="Caption Faculty approval"/>
          <p:cNvSpPr txBox="1"/>
          <p:nvPr/>
        </p:nvSpPr>
        <p:spPr>
          <a:xfrm>
            <a:off x="434340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Faculty approval</a:t>
            </a:r>
          </a:p>
        </p:txBody>
      </p:sp>
      <p:sp>
        <p:nvSpPr>
          <p:cNvPr id="52" name="Caption Warden list"/>
          <p:cNvSpPr txBox="1"/>
          <p:nvPr/>
        </p:nvSpPr>
        <p:spPr>
          <a:xfrm>
            <a:off x="8046720" y="5760720"/>
            <a:ext cx="34747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Warden list</a:t>
            </a:r>
          </a:p>
        </p:txBody>
      </p:sp>
      <p:sp>
        <p:nvSpPr>
          <p:cNvPr id="53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40080" y="457200"/>
            <a:ext cx="969264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Times New Roman"/>
              </a:rPr>
              <a:t>Conclusion &amp; Next Steps</a:t>
            </a:r>
          </a:p>
        </p:txBody>
      </p:sp>
      <p:sp>
        <p:nvSpPr>
          <p:cNvPr id="3" name="Summary"/>
          <p:cNvSpPr/>
          <p:nvPr/>
        </p:nvSpPr>
        <p:spPr>
          <a:xfrm>
            <a:off x="640080" y="1463040"/>
            <a:ext cx="5394960" cy="4297680"/>
          </a:xfrm>
          <a:prstGeom prst="roundRect">
            <a:avLst>
              <a:gd name="adj" fmla="val 3829"/>
            </a:avLst>
          </a:prstGeom>
          <a:solidFill>
            <a:srgbClr val="B015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mmary title"/>
          <p:cNvSpPr txBox="1"/>
          <p:nvPr/>
        </p:nvSpPr>
        <p:spPr>
          <a:xfrm>
            <a:off x="749808" y="1554480"/>
            <a:ext cx="517550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Review 1 Summary</a:t>
            </a:r>
          </a:p>
        </p:txBody>
      </p:sp>
      <p:sp>
        <p:nvSpPr>
          <p:cNvPr id="5" name="Summary body"/>
          <p:cNvSpPr txBox="1"/>
          <p:nvPr/>
        </p:nvSpPr>
        <p:spPr>
          <a:xfrm>
            <a:off x="749808" y="2057400"/>
            <a:ext cx="5175504" cy="3611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Requirements: 18 functional and 8 non-functional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Architecture: three-tier, Node/Express REST + MongoDB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Use cases for five actors; ER model with eight entities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Six modules defined; technology stack finalised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UI wireframes ready for six screens</a:t>
            </a:r>
          </a:p>
        </p:txBody>
      </p:sp>
      <p:sp>
        <p:nvSpPr>
          <p:cNvPr id="6" name="Next steps"/>
          <p:cNvSpPr/>
          <p:nvPr/>
        </p:nvSpPr>
        <p:spPr>
          <a:xfrm>
            <a:off x="6217920" y="1463040"/>
            <a:ext cx="5303520" cy="4297680"/>
          </a:xfrm>
          <a:prstGeom prst="roundRect">
            <a:avLst>
              <a:gd name="adj" fmla="val 3829"/>
            </a:avLst>
          </a:prstGeom>
          <a:solidFill>
            <a:srgbClr val="1E5155"/>
          </a:solidFill>
          <a:ln w="15875">
            <a:solidFill>
              <a:srgbClr val="C9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ext steps title"/>
          <p:cNvSpPr txBox="1"/>
          <p:nvPr/>
        </p:nvSpPr>
        <p:spPr>
          <a:xfrm>
            <a:off x="6327648" y="1554480"/>
            <a:ext cx="508406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Times New Roman"/>
              </a:rPr>
              <a:t>Next Steps</a:t>
            </a:r>
          </a:p>
        </p:txBody>
      </p:sp>
      <p:sp>
        <p:nvSpPr>
          <p:cNvPr id="8" name="Next steps body"/>
          <p:cNvSpPr txBox="1"/>
          <p:nvPr/>
        </p:nvSpPr>
        <p:spPr>
          <a:xfrm>
            <a:off x="6327648" y="2057400"/>
            <a:ext cx="5084064" cy="3611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Frontend and backend development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REST API and database integration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Module-wise implementation and testing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Hostel exit linking and attendance rules</a:t>
            </a:r>
          </a:p>
          <a:p>
            <a:pPr marL="182880" indent="-182880">
              <a:spcAft>
                <a:spcPts val="700"/>
              </a:spcAft>
              <a:buChar char="•"/>
            </a:pPr>
            <a:r>
              <a:rPr sz="2000" b="0" i="0">
                <a:solidFill>
                  <a:srgbClr val="FFFFFF"/>
                </a:solidFill>
                <a:latin typeface="Times New Roman"/>
              </a:rPr>
              <a:t>Screenshots, progress report,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058400" y="6355080"/>
            <a:ext cx="1371600" cy="274320"/>
          </a:xfrm>
          <a:prstGeom prst="rect">
            <a:avLst/>
          </a:prstGeom>
          <a:noFill/>
        </p:spPr>
        <p:txBody>
          <a:bodyPr wrap="square" lIns="0" rIns="0" tIns="36576" bIns="36576">
            <a:spAutoFit/>
          </a:bodyPr>
          <a:lstStyle/>
          <a:p>
            <a:pPr algn="r"/>
            <a:r>
              <a:rPr sz="1000" b="0" i="0">
                <a:solidFill>
                  <a:srgbClr val="C9D6D6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F08CB-A270-09B5-5070-114E9E32F58C}"/>
              </a:ext>
            </a:extLst>
          </p:cNvPr>
          <p:cNvSpPr txBox="1"/>
          <p:nvPr/>
        </p:nvSpPr>
        <p:spPr>
          <a:xfrm>
            <a:off x="3559277" y="2745035"/>
            <a:ext cx="700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6777060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248</TotalTime>
  <Words>1077</Words>
  <Application>Microsoft Office PowerPoint</Application>
  <PresentationFormat>Widescreen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Divislin Anto</cp:lastModifiedBy>
  <cp:revision>2</cp:revision>
  <cp:lastPrinted>2026-09-15T05:46:47Z</cp:lastPrinted>
  <dcterms:created xsi:type="dcterms:W3CDTF">2013-01-27T09:14:16Z</dcterms:created>
  <dcterms:modified xsi:type="dcterms:W3CDTF">2026-09-15T09:33:12Z</dcterms:modified>
  <cp:category/>
</cp:coreProperties>
</file>